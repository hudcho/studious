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4" r:id="rId4"/>
    <p:sldId id="258" r:id="rId5"/>
    <p:sldId id="265" r:id="rId6"/>
    <p:sldId id="266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-230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042C31-21ED-4F4E-BC17-8A48F1DF5930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9ED01E-914A-41E4-88A0-C6BC45F53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45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we are, what our goal is, blah blah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ED01E-914A-41E4-88A0-C6BC45F533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25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description of product we are creating and what core features we want it to do, </a:t>
            </a:r>
            <a:r>
              <a:rPr lang="en-US" dirty="0" err="1"/>
              <a:t>bulleetted</a:t>
            </a:r>
            <a:r>
              <a:rPr lang="en-US" dirty="0"/>
              <a:t> lists not sentences or </a:t>
            </a:r>
            <a:r>
              <a:rPr lang="en-US" dirty="0" err="1"/>
              <a:t>pargaphs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ED01E-914A-41E4-88A0-C6BC45F533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52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Sketch of UI, show what we want it to look like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ED01E-914A-41E4-88A0-C6BC45F5337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9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245B7-3D8A-8032-03F4-33B854321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6BC70-9552-09E2-0132-76BA9EA60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4CDBF-D4E2-1072-D835-5D8F0C40A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Sketch of UI, show what we want it to look like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56F95-4142-614B-0AB3-D322E87CB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ED01E-914A-41E4-88A0-C6BC45F5337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01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5076A-1D4F-834C-3AE3-837DA5A18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1C253-4650-B304-9F8B-34BBA0900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00FF0-5FA4-EDD7-901D-F10189155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Sketch of UI, show what we want it to look like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B7677-C252-BD44-E1D6-738279DB4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ED01E-914A-41E4-88A0-C6BC45F5337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73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B9DFE-AD27-DBF8-8948-DE74D58D6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3EDEF0-5E24-B1FB-92A3-519807B1A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BADF8E-5A8B-14D1-ED32-F5ED550F0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Sketch of UI, show what we want it to look like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0549B-7316-6EA2-5A8E-3DF671E41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ED01E-914A-41E4-88A0-C6BC45F533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04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5A081-FA64-7246-854E-1B4C869D7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07DCC-5965-2414-89A4-10CF6106C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FD3BD3-419B-5D51-AB42-60F2E9157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Sketch of UI, show what we want it to look like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22288-3175-40B6-81B1-2359C5D3C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ED01E-914A-41E4-88A0-C6BC45F5337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775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569F8-6D93-99DB-F6CC-67FFE976E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A8135-CEB6-A748-D2B4-0A85ADB33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84E60-D4F3-1455-F415-AE21BBE21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78C13-01A5-8C5F-C51A-AF6E9D21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4B7D6-0ABE-05FF-0A11-13515649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204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13072-7C34-6ECA-C593-286536F85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B0A8D-077C-46A6-A789-EB3423549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9FE24-D1A2-768C-5820-B03C400EA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FB1A5-2815-D7DA-7664-F7E32D53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933E9-FFAA-69E3-E410-625BCE7C0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298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B0A0-5957-79EF-E4BD-D5D7CF95F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42647-86A1-8698-BE7A-EA1C508CC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D3D32-06AC-D910-EA2D-B8677812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49E3B-E87D-CF9B-C8D8-8A975AB47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AB7A9-BBD5-84FE-829A-C37BF9E28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64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82BE-3079-90E8-4832-12A1C38ED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641F3-DC44-BD06-676D-6FEED3E0CC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C7344-9642-89D6-006D-8B80DDCD2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B6241-E139-B1D4-8915-399FDBC79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7DA92-6CB9-4D95-9D7B-8AC5BCD8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B0139-E34F-988D-CC0B-0F22228DF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77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5F56-D68E-42EA-B47D-21F940BE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F412D-2F4D-4DD0-CD70-304F4916A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ADB78-6B84-5A4C-0825-146CFCE5B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62E63-7A72-14D4-FDCE-CB6AE1F1E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2DA19-33C2-0145-23BD-A87E57D2B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B725E1-1D14-6FFB-D192-8CD0467B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31934E-D266-2D7C-8E1A-5D9F3BF9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A27514-79DE-A7F0-AD35-2E9EF5F40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43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D1A0-BAF9-46E0-5C52-52F70517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46855-F743-3559-0782-86AC5025F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3D572A-9A33-B015-008C-704E269BB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1D80A-7161-7965-90C2-B718DDB4B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12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E5730-A144-3786-FACB-8CA8BCD06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52911C-48F3-CAA5-8849-77ACF4B9F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4CD7E-DABB-43DF-C904-8DAB28EE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41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F60CD-F311-C2EC-B534-8544FD641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1DB39-49D0-DFD4-F0B2-35062EC6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D5A89-CBCD-0520-D293-91FEEE3E1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D7C13-2247-9EDB-9A43-007B3E006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E9799-796E-FB95-219A-D751B1B8F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15D28-2525-0652-4BE4-A2B92FD8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2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FD215-A67A-600D-014A-92F652B89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CC2AED-D91B-8C95-7646-89C77822F1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2B8C8E-E1EA-B41A-7CEF-602D346F3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1DC11-F01C-C4B4-86BF-7890B6479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0944D-FE4A-5CE6-C7C2-3C9FAC6C1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83736-D1D6-E08B-DFCC-9652AE5F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98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0D138-8DBE-F457-736E-7CD97D40E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B0529-FAB4-DA4C-2317-7D5125B89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D9FAB-B4D8-8C40-FD6C-EC6C25370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97C36-4D3E-65C0-ACEF-6002D4EB0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2CE19-1109-5A7C-9A41-BDC8E0E0C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66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B98293-EE64-2B4E-6736-36C8FDFF0F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432146-3116-C393-0BB6-81F2C76C1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E9DD5-45B9-91EC-8804-C98F310A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993B7-198B-CBDE-242C-1495A8BDB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D3640-05C3-9177-84B3-7C47F9AF5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29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C31CB3-1E6E-B8DE-4CBB-F8E26B54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5015E-836D-FCC9-107C-03B3A3046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D3524-66E2-4CB8-7C62-B4715ADFC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92EE44-8D87-4236-A9CD-E74E4CD01E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76A9A-3E0C-66F9-1608-316125B1F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91D9D-FE78-1F54-C519-3325E7239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50EEA-CF0A-42F7-B28E-89C6D751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17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TR/html52/" TargetMode="External"/><Relationship Id="rId2" Type="http://schemas.openxmlformats.org/officeDocument/2006/relationships/hyperlink" Target="file:///C:\Users\coaus\ASGMNT1\ScopeAndVisionJHETInnovations.docx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github.com/hudcho/Studious/blob/main/ASGMNT1/ScopeAndVisionJHETInnovations.docx" TargetMode="External"/><Relationship Id="rId4" Type="http://schemas.openxmlformats.org/officeDocument/2006/relationships/hyperlink" Target="https://www.postgresql.org/doc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EC492-5CDF-E102-AA55-EB33094135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C7C3B1-9A1A-2431-D9FF-6294B12675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09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7370C-15A4-16B8-AD52-E7FBC5338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EB5F87-5DE1-5BB0-67E1-44B411F2B2C8}"/>
              </a:ext>
            </a:extLst>
          </p:cNvPr>
          <p:cNvSpPr txBox="1"/>
          <p:nvPr/>
        </p:nvSpPr>
        <p:spPr>
          <a:xfrm>
            <a:off x="506896" y="1432271"/>
            <a:ext cx="727544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- This Software Requirements Specification (SRS) document defines the software requirements for Studious, a study-themed web application designed to enhance productivity and collaboration for students and self-learners. This document specifies all functional and non-functional requirements for the Studious v1.0 release. It focuses on the web application portion of the system. Any unrelated components, such as mobile versions, End-to-end encryption, and AI implementation, are excluded.  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Document Conventions –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Headings, Bold Text, “Must” statements, and priorities explicitly stated for each major requirement and are not inherited by default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Intended Audience –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Developers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understand system architecture/implement features,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Project Managers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plan and manage deliverables and milestones,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testers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develop test cases, and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stakeholders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validate that the platform aligns with academic goals.</a:t>
            </a:r>
          </a:p>
          <a:p>
            <a:pPr marL="342900" indent="-342900">
              <a:buFont typeface="+mj-lt"/>
              <a:buAutoNum type="arabicPeriod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23606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AE6CA-2470-21F2-E199-8888BD70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1BCCA-74BC-4196-E9AD-75FF08F5725C}"/>
              </a:ext>
            </a:extLst>
          </p:cNvPr>
          <p:cNvSpPr txBox="1"/>
          <p:nvPr/>
        </p:nvSpPr>
        <p:spPr>
          <a:xfrm>
            <a:off x="838200" y="1868557"/>
            <a:ext cx="699383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4. Product Scope: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scope for Studious defines the boundaries, objectives, and key use cases for the application, focusing on its academic and collaborative features. For a detailed review of the scope of our application please refer to our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Scope and Vision Document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located in the GitHub.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5. References: </a:t>
            </a:r>
          </a:p>
          <a:p>
            <a:pPr lvl="0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IEEE Std. 830-1998: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IEEE Recommended Practice for Software Requirements Specifications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*W3C Web Standards Documentation -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https://www.w3.org/TR/html52/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*MDN Web Docs - https://developer.mozilla.org/</a:t>
            </a:r>
          </a:p>
          <a:p>
            <a:pPr lvl="0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*React Developer Documentation - https://react.dev/</a:t>
            </a:r>
          </a:p>
          <a:p>
            <a:pPr lvl="0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*Node.js Official Documentation - https://nodejs.org/</a:t>
            </a:r>
          </a:p>
          <a:p>
            <a:pPr lvl="0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*PostgreSQL Documentation -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https://www.postgresql.org/docs/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*Scope and Vision Document -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https://github.com/hudcho/Studious/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49960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5173F-C27E-90A6-D719-BB988746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2CA3B-343F-0D28-E25C-84CD77B0D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DCAAF-4A23-6CDA-0BA8-7AEC1AD4E0B7}"/>
              </a:ext>
            </a:extLst>
          </p:cNvPr>
          <p:cNvSpPr txBox="1"/>
          <p:nvPr/>
        </p:nvSpPr>
        <p:spPr>
          <a:xfrm>
            <a:off x="838200" y="1848678"/>
            <a:ext cx="654657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Product Perspective: </a:t>
            </a:r>
            <a:r>
              <a:rPr lang="en-US" dirty="0"/>
              <a:t>Studious will be deployed using modern web technologies, including: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Frontend:</a:t>
            </a:r>
            <a:r>
              <a:rPr lang="en-US" dirty="0"/>
              <a:t> React (with Tailwind CSS for UI styling)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Backend:</a:t>
            </a:r>
            <a:r>
              <a:rPr lang="en-US" dirty="0"/>
              <a:t> Node.js and Express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Database:</a:t>
            </a:r>
            <a:r>
              <a:rPr lang="en-US" dirty="0"/>
              <a:t> PostgreSQL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Real-Time Communication:</a:t>
            </a:r>
            <a:r>
              <a:rPr lang="en-US" dirty="0"/>
              <a:t> Socket.io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Deployment:</a:t>
            </a:r>
            <a:r>
              <a:rPr lang="en-US" dirty="0"/>
              <a:t> Frontend hosted on </a:t>
            </a:r>
            <a:r>
              <a:rPr lang="en-US" dirty="0" err="1"/>
              <a:t>Vercel</a:t>
            </a:r>
            <a:r>
              <a:rPr lang="en-US" dirty="0"/>
              <a:t>, Backend hosted on Render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B922AC-98E4-0750-D191-8DA96CA7C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41" y="4678561"/>
            <a:ext cx="8074514" cy="248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976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266B10-05C4-91E7-87CD-A0B8F2A70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Overview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B7440-D8D5-F8B9-C859-C3F8DF963896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2. Product Functions</a:t>
            </a:r>
            <a:r>
              <a:rPr lang="en-US" dirty="0"/>
              <a:t>:  Study Circles, Direct Messaging, User Profiles, Note Sharing &amp; Requesting, Calendar &amp; Assignment Tracking, Pomodoro Timer, and Interactive Study Tools.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3. User Classes and Characteristics</a:t>
            </a:r>
            <a:r>
              <a:rPr lang="en-US" dirty="0"/>
              <a:t>: Depicted on the left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4. Operating Environment</a:t>
            </a:r>
            <a:r>
              <a:rPr lang="en-US" dirty="0"/>
              <a:t>: Supporting Environments include:</a:t>
            </a:r>
          </a:p>
          <a:p>
            <a:pPr lvl="0"/>
            <a:r>
              <a:rPr lang="en-US" sz="1400" b="1" dirty="0"/>
              <a:t>Operating Systems:</a:t>
            </a:r>
            <a:r>
              <a:rPr lang="en-US" sz="1400" dirty="0"/>
              <a:t> Windows 10+, macOS 12+, Linux (Ubuntu 20.04+)</a:t>
            </a:r>
          </a:p>
          <a:p>
            <a:pPr lvl="0"/>
            <a:r>
              <a:rPr lang="en-US" sz="1400" b="1" dirty="0"/>
              <a:t>Browsers:</a:t>
            </a:r>
            <a:r>
              <a:rPr lang="en-US" sz="1400" dirty="0"/>
              <a:t> Chrome (v110+), Edge (v110+), Firefox (v100+), Safari (v15+)</a:t>
            </a:r>
          </a:p>
          <a:p>
            <a:pPr lvl="0"/>
            <a:r>
              <a:rPr lang="en-US" sz="1400" b="1" dirty="0"/>
              <a:t>Internet Connection:</a:t>
            </a:r>
            <a:r>
              <a:rPr lang="en-US" sz="1400" dirty="0"/>
              <a:t> Required for messaging, data storage, and collaboration.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BC4DB0-04E7-FE90-13C3-8988BA32C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556323"/>
              </p:ext>
            </p:extLst>
          </p:nvPr>
        </p:nvGraphicFramePr>
        <p:xfrm>
          <a:off x="95857" y="2388564"/>
          <a:ext cx="4777383" cy="1152303"/>
        </p:xfrm>
        <a:graphic>
          <a:graphicData uri="http://schemas.openxmlformats.org/drawingml/2006/table">
            <a:tbl>
              <a:tblPr firstRow="1" firstCol="1" bandRow="1"/>
              <a:tblGrid>
                <a:gridCol w="1069056">
                  <a:extLst>
                    <a:ext uri="{9D8B030D-6E8A-4147-A177-3AD203B41FA5}">
                      <a16:colId xmlns:a16="http://schemas.microsoft.com/office/drawing/2014/main" val="650291121"/>
                    </a:ext>
                  </a:extLst>
                </a:gridCol>
                <a:gridCol w="2327499">
                  <a:extLst>
                    <a:ext uri="{9D8B030D-6E8A-4147-A177-3AD203B41FA5}">
                      <a16:colId xmlns:a16="http://schemas.microsoft.com/office/drawing/2014/main" val="3048312930"/>
                    </a:ext>
                  </a:extLst>
                </a:gridCol>
                <a:gridCol w="664802">
                  <a:extLst>
                    <a:ext uri="{9D8B030D-6E8A-4147-A177-3AD203B41FA5}">
                      <a16:colId xmlns:a16="http://schemas.microsoft.com/office/drawing/2014/main" val="2569473128"/>
                    </a:ext>
                  </a:extLst>
                </a:gridCol>
                <a:gridCol w="716026">
                  <a:extLst>
                    <a:ext uri="{9D8B030D-6E8A-4147-A177-3AD203B41FA5}">
                      <a16:colId xmlns:a16="http://schemas.microsoft.com/office/drawing/2014/main" val="2408838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ts val="1200"/>
                        </a:lnSpc>
                        <a:buNone/>
                      </a:pPr>
                      <a:r>
                        <a:rPr lang="en-US" sz="1000" b="1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User Class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ts val="1200"/>
                        </a:lnSpc>
                        <a:buNone/>
                      </a:pPr>
                      <a:r>
                        <a:rPr lang="en-US" sz="10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ts val="1200"/>
                        </a:lnSpc>
                        <a:buNone/>
                      </a:pPr>
                      <a:r>
                        <a:rPr lang="en-US" sz="10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Expertise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ts val="1200"/>
                        </a:lnSpc>
                        <a:buNone/>
                      </a:pPr>
                      <a:r>
                        <a:rPr lang="en-US" sz="10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of Use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638819"/>
                  </a:ext>
                </a:extLst>
              </a:tr>
              <a:tr h="320966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Students: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Primary users who collaborate in study circles and track study progress.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Basic–Moderate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Daily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940528"/>
                  </a:ext>
                </a:extLst>
              </a:tr>
              <a:tr h="188061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Educators/Tutors: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Create or oversee group study sessions.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Weekly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647132"/>
                  </a:ext>
                </a:extLst>
              </a:tr>
              <a:tr h="320966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Administrators: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Manage user accounts, data integrity, and system maintenance.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Advanced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As needed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448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1420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48030-34E3-5373-2038-A447124E9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6A5458-033A-76F0-2C5B-E0EC81D4301E}"/>
              </a:ext>
            </a:extLst>
          </p:cNvPr>
          <p:cNvSpPr txBox="1"/>
          <p:nvPr/>
        </p:nvSpPr>
        <p:spPr>
          <a:xfrm>
            <a:off x="838200" y="1590261"/>
            <a:ext cx="769288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5. Design &amp; Implementation Constraints: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Must be implemented using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Node.js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Express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Must use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Socket.io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for real-time study circle and messaging functionality.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Must follow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GDPR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FERPA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compliance for data security.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Must use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HTTPS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for secure client-server communication.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Must ensure page load and response times within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 seconds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under normal load.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Must be designed for scalability to support future cloud migration.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6. User Documentation: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User Manual, Quick Start Guide, and FAQ Page, and Developer Documentation(Internal)</a:t>
            </a:r>
          </a:p>
          <a:p>
            <a:pPr lvl="0"/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7. Assumption and Dependencies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0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Assumptions: </a:t>
            </a:r>
          </a:p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Users have reliable internet access and a modern browser.</a:t>
            </a:r>
          </a:p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Users are familiar with basic online collaboration tools.</a:t>
            </a:r>
          </a:p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Students and tutors will actively engage with the app’s productivity and communication features. 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Dependencies: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Node.js and Express for backend logic.</a:t>
            </a:r>
          </a:p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PostgreSQL for database management.</a:t>
            </a:r>
          </a:p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Socket.io for real-time communication.</a:t>
            </a:r>
          </a:p>
          <a:p>
            <a:pPr lvl="0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Vercel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(frontend) and Render (backend) for hosting and deployment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65611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98F31-40D5-F7C1-EFDB-C579570D6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3A5E3-728B-5C50-D629-CBA2EBAB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Interface</a:t>
            </a:r>
          </a:p>
        </p:txBody>
      </p:sp>
    </p:spTree>
    <p:extLst>
      <p:ext uri="{BB962C8B-B14F-4D97-AF65-F5344CB8AC3E}">
        <p14:creationId xmlns:p14="http://schemas.microsoft.com/office/powerpoint/2010/main" val="3881191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69E13-23B5-9F02-3CD9-1613E4BC7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4136-D480-6A34-02A8-538966DA3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4161723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0B569-EFAB-5D0B-5805-779BF4F60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CBA4-4646-FBD2-58BA-9CAEB90D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739213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443C0-5831-67B6-D214-3A26D4C6E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897B-ED9E-6382-1775-8C38E586E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Requirements</a:t>
            </a:r>
          </a:p>
        </p:txBody>
      </p:sp>
    </p:spTree>
    <p:extLst>
      <p:ext uri="{BB962C8B-B14F-4D97-AF65-F5344CB8AC3E}">
        <p14:creationId xmlns:p14="http://schemas.microsoft.com/office/powerpoint/2010/main" val="2018098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24A11-D06A-C1CA-15C1-CF4950357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E63B3-AF50-6302-048B-9AE131B90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</a:t>
            </a:r>
          </a:p>
        </p:txBody>
      </p:sp>
    </p:spTree>
    <p:extLst>
      <p:ext uri="{BB962C8B-B14F-4D97-AF65-F5344CB8AC3E}">
        <p14:creationId xmlns:p14="http://schemas.microsoft.com/office/powerpoint/2010/main" val="2082572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799</Words>
  <Application>Microsoft Office PowerPoint</Application>
  <PresentationFormat>Widescreen</PresentationFormat>
  <Paragraphs>95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Introduction</vt:lpstr>
      <vt:lpstr>Introduction</vt:lpstr>
      <vt:lpstr>Overview</vt:lpstr>
      <vt:lpstr>Overview</vt:lpstr>
      <vt:lpstr>Overview</vt:lpstr>
      <vt:lpstr>External Interface</vt:lpstr>
      <vt:lpstr>Functional Requirements</vt:lpstr>
      <vt:lpstr>Nonfunctional Requirements</vt:lpstr>
      <vt:lpstr>Other Requirements</vt:lpstr>
      <vt:lpstr>User stories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Cho, Hudson</dc:creator>
  <cp:lastModifiedBy>Deensie, Edward</cp:lastModifiedBy>
  <cp:revision>2</cp:revision>
  <dcterms:created xsi:type="dcterms:W3CDTF">2025-10-20T12:25:22Z</dcterms:created>
  <dcterms:modified xsi:type="dcterms:W3CDTF">2025-10-21T00:59:20Z</dcterms:modified>
</cp:coreProperties>
</file>