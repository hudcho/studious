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14"/>
  </p:notesMasterIdLst>
  <p:sldIdLst>
    <p:sldId id="256" r:id="rId2"/>
    <p:sldId id="257" r:id="rId3"/>
    <p:sldId id="264" r:id="rId4"/>
    <p:sldId id="258" r:id="rId5"/>
    <p:sldId id="265" r:id="rId6"/>
    <p:sldId id="266" r:id="rId7"/>
    <p:sldId id="259" r:id="rId8"/>
    <p:sldId id="260" r:id="rId9"/>
    <p:sldId id="267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1914" y="8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042C31-21ED-4F4E-BC17-8A48F1DF5930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69ED01E-914A-41E4-88A0-C6BC45F533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02451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Who we are, what our goal is, blah blah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02597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Brief description of product we are creating and what core features we want it to do, </a:t>
            </a:r>
            <a:r>
              <a:rPr lang="en-US" dirty="0" err="1"/>
              <a:t>bulleetted</a:t>
            </a:r>
            <a:r>
              <a:rPr lang="en-US" dirty="0"/>
              <a:t> lists not sentences or </a:t>
            </a:r>
            <a:r>
              <a:rPr lang="en-US" dirty="0" err="1"/>
              <a:t>pargaphs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805273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UI, show what we want it to look like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3953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7245B7-3D8A-8032-03F4-33B854321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C6BC70-9552-09E2-0132-76BA9EA604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E4CDBF-D4E2-1072-D835-5D8F0C40A8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UI, show what we want it to look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A56F95-4142-614B-0AB3-D322E87CB4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90125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7AACC5-A7FB-200E-5EA1-6A75548EDA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0A09DC-800F-2354-F496-FE621C156D8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DED33A-1E02-D300-3CE2-EA66F37977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UI, show what we want it to look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EB9F64-8659-F14D-480E-4259F49B888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534491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C5076A-1D4F-834C-3AE3-837DA5A18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21C253-4650-B304-9F8B-34BBA09004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500FF0-5FA4-EDD7-901D-F10189155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UI, show what we want it to look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9B7677-C252-BD44-E1D6-738279DB49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02731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0B9DFE-AD27-DBF8-8948-DE74D58D6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63EDEF0-5E24-B1FB-92A3-519807B1AC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BADF8E-5A8B-14D1-ED32-F5ED550F0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UI, show what we want it to look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3C0549B-7316-6EA2-5A8E-3DF671E41D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150416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5A081-FA64-7246-854E-1B4C869D7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907DCC-5965-2414-89A4-10CF6106CC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FD3BD3-419B-5D51-AB42-60F2E9157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Sketch of UI, show what we want it to look like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E22288-3175-40B6-81B1-2359C5D3C4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69ED01E-914A-41E4-88A0-C6BC45F53370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7751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556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80715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10933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36133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2492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2584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31310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254109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75399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23437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746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592EE44-8D87-4236-A9CD-E74E4CD01E67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1750EEA-CF0A-42F7-B28E-89C6D751AB13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48727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3.org/TR/html52/" TargetMode="External"/><Relationship Id="rId2" Type="http://schemas.openxmlformats.org/officeDocument/2006/relationships/hyperlink" Target="file:///C:\Users\coaus\ASGMNT1\ScopeAndVisionJHETInnovations.docx" TargetMode="External"/><Relationship Id="rId1" Type="http://schemas.openxmlformats.org/officeDocument/2006/relationships/slideLayout" Target="../slideLayouts/slideLayout6.xml"/><Relationship Id="rId5" Type="http://schemas.openxmlformats.org/officeDocument/2006/relationships/hyperlink" Target="https://github.com/hudcho/Studious/blob/main/ASGMNT1/ScopeAndVisionJHETInnovations.docx" TargetMode="External"/><Relationship Id="rId4" Type="http://schemas.openxmlformats.org/officeDocument/2006/relationships/hyperlink" Target="https://www.postgresql.org/docs/" TargetMode="Externa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AEC492-5CDF-E102-AA55-EB330941356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C7C3B1-9A1A-2431-D9FF-6294B12675A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9097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7370C-15A4-16B8-AD52-E7FBC53384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EB5F87-5DE1-5BB0-67E1-44B411F2B2C8}"/>
              </a:ext>
            </a:extLst>
          </p:cNvPr>
          <p:cNvSpPr txBox="1"/>
          <p:nvPr/>
        </p:nvSpPr>
        <p:spPr>
          <a:xfrm>
            <a:off x="506896" y="1432271"/>
            <a:ext cx="7275444" cy="56323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Purpose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- This Software Requirements Specification (SRS) document defines the software requirements for Studious, a study-themed web application designed to enhance productivity and collaboration for students and self-learners. This document specifies all functional and non-functional requirements for the Studious v1.0 release. It focuses on the web application portion of the system. Any unrelated components, such as mobile versions, End-to-end encryption, and AI implementation, are excluded.  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Document Conventions –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Headings, Bold Text, “Must” statements, and priorities explicitly stated for each major requirement and are not inherited by default </a:t>
            </a:r>
          </a:p>
          <a:p>
            <a:pPr marL="342900" indent="-342900">
              <a:buFont typeface="+mj-lt"/>
              <a:buAutoNum type="arabicPeriod"/>
            </a:pP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buFont typeface="+mj-lt"/>
              <a:buAutoNum type="arabicPeriod"/>
            </a:pP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Intended Audience –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Developers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to understand system architecture/implement features,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Project Managers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to plan and manage deliverables and milestones,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testers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to develop test cases, and </a:t>
            </a:r>
            <a:r>
              <a:rPr lang="en-US" i="1" dirty="0">
                <a:latin typeface="Arial" panose="020B0604020202020204" pitchFamily="34" charset="0"/>
                <a:cs typeface="Arial" panose="020B0604020202020204" pitchFamily="34" charset="0"/>
              </a:rPr>
              <a:t>stakeholders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 to validate that the platform aligns with academic goals.</a:t>
            </a:r>
          </a:p>
          <a:p>
            <a:pPr marL="342900" indent="-342900">
              <a:buFont typeface="+mj-lt"/>
              <a:buAutoNum type="arabicPeriod"/>
            </a:pPr>
            <a:endParaRPr lang="en-US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52360607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6AE6CA-2470-21F2-E199-8888BD704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A1BCCA-74BC-4196-E9AD-75FF08F5725C}"/>
              </a:ext>
            </a:extLst>
          </p:cNvPr>
          <p:cNvSpPr txBox="1"/>
          <p:nvPr/>
        </p:nvSpPr>
        <p:spPr>
          <a:xfrm>
            <a:off x="838200" y="1868557"/>
            <a:ext cx="6993835" cy="46166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4. Product Scope: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The scope for Studious defines the boundaries, objectives, and key use cases for the application, focusing on its academic and collaborative features. For a detailed review of the scope of our application please refer to our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  <a:hlinkClick r:id="rId2" action="ppaction://hlinkfile"/>
              </a:rPr>
              <a:t>Scope and Vision Document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located in the GitHub.</a:t>
            </a:r>
          </a:p>
          <a:p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5. References: </a:t>
            </a:r>
          </a:p>
          <a:p>
            <a:pPr lvl="0"/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* 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IEEE Std. 830-1998: </a:t>
            </a:r>
            <a:r>
              <a:rPr lang="en-US" sz="1600" i="1" dirty="0">
                <a:latin typeface="Arial" panose="020B0604020202020204" pitchFamily="34" charset="0"/>
                <a:cs typeface="Arial" panose="020B0604020202020204" pitchFamily="34" charset="0"/>
              </a:rPr>
              <a:t>IEEE Recommended Practice for Software Requirements Specifications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*W3C Web Standards Documentation -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  <a:hlinkClick r:id="rId3"/>
              </a:rPr>
              <a:t>https://www.w3.org/TR/html52/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*MDN Web Docs - https://developer.mozilla.org/</a:t>
            </a:r>
          </a:p>
          <a:p>
            <a:pPr lvl="0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*React Developer Documentation - https://react.dev/</a:t>
            </a:r>
          </a:p>
          <a:p>
            <a:pPr lvl="0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*Node.js Official Documentation - https://nodejs.org/</a:t>
            </a:r>
          </a:p>
          <a:p>
            <a:pPr lvl="0"/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*PostgreSQL Documentation -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  <a:hlinkClick r:id="rId4"/>
              </a:rPr>
              <a:t>https://www.postgresql.org/docs/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*Scope and Vision Document - </a:t>
            </a:r>
            <a:r>
              <a:rPr lang="en-US" sz="1600" u="sng" dirty="0">
                <a:latin typeface="Arial" panose="020B0604020202020204" pitchFamily="34" charset="0"/>
                <a:cs typeface="Arial" panose="020B0604020202020204" pitchFamily="34" charset="0"/>
                <a:hlinkClick r:id="rId5"/>
              </a:rPr>
              <a:t>https://github.com/hudcho/Studious/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b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5499600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5173F-C27E-90A6-D719-BB988746C2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C2CA3B-343F-0D28-E25C-84CD77B0D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3CDCAAF-4A23-6CDA-0BA8-7AEC1AD4E0B7}"/>
              </a:ext>
            </a:extLst>
          </p:cNvPr>
          <p:cNvSpPr txBox="1"/>
          <p:nvPr/>
        </p:nvSpPr>
        <p:spPr>
          <a:xfrm>
            <a:off x="838200" y="1848678"/>
            <a:ext cx="6546574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en-US" b="1" dirty="0"/>
              <a:t>Product Perspective: </a:t>
            </a:r>
            <a:r>
              <a:rPr lang="en-US" dirty="0"/>
              <a:t>Studious will be deployed using modern web technologies, including: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Frontend:</a:t>
            </a:r>
            <a:r>
              <a:rPr lang="en-US" dirty="0"/>
              <a:t> React (with Tailwind CSS for UI styling)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Backend:</a:t>
            </a:r>
            <a:r>
              <a:rPr lang="en-US" dirty="0"/>
              <a:t> Node.js and Express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Database:</a:t>
            </a:r>
            <a:r>
              <a:rPr lang="en-US" dirty="0"/>
              <a:t> PostgreSQL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Real-Time Communication:</a:t>
            </a:r>
            <a:r>
              <a:rPr lang="en-US" dirty="0"/>
              <a:t> Socket.io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b="1" dirty="0"/>
              <a:t>Deployment:</a:t>
            </a:r>
            <a:r>
              <a:rPr lang="en-US" dirty="0"/>
              <a:t> Frontend hosted on </a:t>
            </a:r>
            <a:r>
              <a:rPr lang="en-US" dirty="0" err="1"/>
              <a:t>Vercel</a:t>
            </a:r>
            <a:r>
              <a:rPr lang="en-US" dirty="0"/>
              <a:t>, Backend hosted on Render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lvl="0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6B922AC-98E4-0750-D191-8DA96CA7C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541" y="4678561"/>
            <a:ext cx="8074514" cy="2487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79762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266B10-05C4-91E7-87CD-A0B8F2A703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94962" y="479493"/>
            <a:ext cx="5458838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58B7440-D8D5-F8B9-C859-C3F8DF963896}"/>
              </a:ext>
            </a:extLst>
          </p:cNvPr>
          <p:cNvSpPr txBox="1"/>
          <p:nvPr/>
        </p:nvSpPr>
        <p:spPr>
          <a:xfrm>
            <a:off x="5894962" y="1984443"/>
            <a:ext cx="5458838" cy="41925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/>
              <a:t>2. Product Functions</a:t>
            </a:r>
            <a:r>
              <a:rPr lang="en-US" dirty="0"/>
              <a:t>:  Study Circles, Direct Messaging, User Profiles, Note Sharing &amp; Requesting, Calendar &amp; Assignment Tracking, Pomodoro Timer, and Interactive Study Tools.</a:t>
            </a:r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/>
              <a:t>3. User Classes and Characteristics</a:t>
            </a:r>
            <a:r>
              <a:rPr lang="en-US" dirty="0"/>
              <a:t>: Depicted on the left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r>
              <a:rPr lang="en-US" b="1" dirty="0"/>
              <a:t>4. Operating Environment</a:t>
            </a:r>
            <a:r>
              <a:rPr lang="en-US" dirty="0"/>
              <a:t>: Supporting Environments include:</a:t>
            </a:r>
          </a:p>
          <a:p>
            <a:pPr lvl="0"/>
            <a:r>
              <a:rPr lang="en-US" sz="1400" b="1" dirty="0"/>
              <a:t>Operating Systems:</a:t>
            </a:r>
            <a:r>
              <a:rPr lang="en-US" sz="1400" dirty="0"/>
              <a:t> Windows 10+, macOS 12+, Linux (Ubuntu 20.04+)</a:t>
            </a:r>
          </a:p>
          <a:p>
            <a:pPr lvl="0"/>
            <a:r>
              <a:rPr lang="en-US" sz="1400" b="1" dirty="0"/>
              <a:t>Browsers:</a:t>
            </a:r>
            <a:r>
              <a:rPr lang="en-US" sz="1400" dirty="0"/>
              <a:t> Chrome (v110+), Edge (v110+), Firefox (v100+), Safari (v15+)</a:t>
            </a:r>
          </a:p>
          <a:p>
            <a:pPr lvl="0"/>
            <a:r>
              <a:rPr lang="en-US" sz="1400" b="1" dirty="0"/>
              <a:t>Internet Connection:</a:t>
            </a:r>
            <a:r>
              <a:rPr lang="en-US" sz="1400" dirty="0"/>
              <a:t> Required for messaging, data storage, and collaboration.</a:t>
            </a:r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dirty="0"/>
          </a:p>
          <a:p>
            <a:pPr>
              <a:lnSpc>
                <a:spcPct val="90000"/>
              </a:lnSpc>
              <a:spcAft>
                <a:spcPts val="600"/>
              </a:spcAft>
            </a:pPr>
            <a:endParaRPr lang="en-US" b="1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 dirty="0"/>
          </a:p>
          <a:p>
            <a:pPr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endParaRPr lang="en-US" b="1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9BC4DB0-04E7-FE90-13C3-8988BA32C18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41556323"/>
              </p:ext>
            </p:extLst>
          </p:nvPr>
        </p:nvGraphicFramePr>
        <p:xfrm>
          <a:off x="95857" y="2388564"/>
          <a:ext cx="4777383" cy="1152303"/>
        </p:xfrm>
        <a:graphic>
          <a:graphicData uri="http://schemas.openxmlformats.org/drawingml/2006/table">
            <a:tbl>
              <a:tblPr firstRow="1" firstCol="1" bandRow="1"/>
              <a:tblGrid>
                <a:gridCol w="1069056">
                  <a:extLst>
                    <a:ext uri="{9D8B030D-6E8A-4147-A177-3AD203B41FA5}">
                      <a16:colId xmlns:a16="http://schemas.microsoft.com/office/drawing/2014/main" val="650291121"/>
                    </a:ext>
                  </a:extLst>
                </a:gridCol>
                <a:gridCol w="2327499">
                  <a:extLst>
                    <a:ext uri="{9D8B030D-6E8A-4147-A177-3AD203B41FA5}">
                      <a16:colId xmlns:a16="http://schemas.microsoft.com/office/drawing/2014/main" val="3048312930"/>
                    </a:ext>
                  </a:extLst>
                </a:gridCol>
                <a:gridCol w="664802">
                  <a:extLst>
                    <a:ext uri="{9D8B030D-6E8A-4147-A177-3AD203B41FA5}">
                      <a16:colId xmlns:a16="http://schemas.microsoft.com/office/drawing/2014/main" val="2569473128"/>
                    </a:ext>
                  </a:extLst>
                </a:gridCol>
                <a:gridCol w="716026">
                  <a:extLst>
                    <a:ext uri="{9D8B030D-6E8A-4147-A177-3AD203B41FA5}">
                      <a16:colId xmlns:a16="http://schemas.microsoft.com/office/drawing/2014/main" val="240883847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1" i="0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User Class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1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Description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1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Technical Expertise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1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Frequency of Use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638819"/>
                  </a:ext>
                </a:extLst>
              </a:tr>
              <a:tr h="320966"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Students: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Primary users who collaborate in study circles and track study progress.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Basic–Moderate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Daily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66940528"/>
                  </a:ext>
                </a:extLst>
              </a:tr>
              <a:tr h="188061"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Educators/Tutors: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Create or oversee group study sessions.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Moderate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Weekly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34647132"/>
                  </a:ext>
                </a:extLst>
              </a:tr>
              <a:tr h="320966"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Administrators: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Manage user accounts, data integrity, and system maintenance.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Advanced</a:t>
                      </a:r>
                      <a:endParaRPr lang="en-US" sz="1600" b="0" i="0" u="none" strike="noStrike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l" fontAlgn="ctr">
                        <a:lnSpc>
                          <a:spcPts val="1200"/>
                        </a:lnSpc>
                        <a:buNone/>
                      </a:pPr>
                      <a:r>
                        <a:rPr lang="en-US" sz="1000" b="0" i="0" u="none" strike="noStrike" dirty="0">
                          <a:effectLst/>
                          <a:latin typeface="Times New Roman" panose="02020603050405020304" pitchFamily="18" charset="0"/>
                          <a:ea typeface="Times New Roman" panose="02020603050405020304" pitchFamily="18" charset="0"/>
                          <a:cs typeface="Times New Roman" panose="02020603050405020304" pitchFamily="18" charset="0"/>
                        </a:rPr>
                        <a:t>As needed</a:t>
                      </a:r>
                      <a:endParaRPr lang="en-US" sz="1600" b="0" i="0" u="none" strike="noStrike" dirty="0">
                        <a:effectLst/>
                        <a:latin typeface="Arial" panose="020B0604020202020204" pitchFamily="34" charset="0"/>
                      </a:endParaRPr>
                    </a:p>
                  </a:txBody>
                  <a:tcPr marL="8307" marR="8307" marT="8307" marB="8307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4484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1420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048030-34E3-5373-2038-A447124E9A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06A5458-033A-76F0-2C5B-E0EC81D4301E}"/>
              </a:ext>
            </a:extLst>
          </p:cNvPr>
          <p:cNvSpPr txBox="1"/>
          <p:nvPr/>
        </p:nvSpPr>
        <p:spPr>
          <a:xfrm>
            <a:off x="838200" y="1590261"/>
            <a:ext cx="7692887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5. Design &amp; Implementation Constraints: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Must be implemented using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React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Node.js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Express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and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PostgreSQL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Must use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Socket.io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for real-time study circle and messaging functionality.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Must follow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GDPR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and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FERPA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compliance for data security.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Must use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HTTPS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for secure client-server communication.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Must ensure page load and response times within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3 seconds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under normal load.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Must be designed for scalability to support future cloud migration.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6. User Documentation: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User Manual, Quick Start Guide, and FAQ Page, and Developer Documentation(Internal)</a:t>
            </a:r>
          </a:p>
          <a:p>
            <a:pPr lvl="0"/>
            <a:endParaRPr lang="en-US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7. Assumption and Dependencies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: </a:t>
            </a:r>
          </a:p>
          <a:p>
            <a:pPr lvl="0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Assumptions: </a:t>
            </a:r>
          </a:p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Users have reliable internet access and a modern browser.</a:t>
            </a:r>
          </a:p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Users are familiar with basic online collaboration tools.</a:t>
            </a:r>
          </a:p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Students and tutors will actively engage with the app’s productivity and communication features. </a:t>
            </a:r>
          </a:p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Dependencies: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Node.js and Express for backend logic.</a:t>
            </a:r>
          </a:p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PostgreSQL for database management.</a:t>
            </a:r>
          </a:p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Socket.io for real-time communication.</a:t>
            </a:r>
          </a:p>
          <a:p>
            <a:pPr lvl="0"/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Vercel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(frontend) and Render (backend) for hosting and deployment</a:t>
            </a:r>
            <a:r>
              <a:rPr lang="en-US" sz="16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31656116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98F31-40D5-F7C1-EFDB-C579570D6D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43A5E3-728B-5C50-D629-CBA2EBAB68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External Interface</a:t>
            </a:r>
          </a:p>
        </p:txBody>
      </p:sp>
    </p:spTree>
    <p:extLst>
      <p:ext uri="{BB962C8B-B14F-4D97-AF65-F5344CB8AC3E}">
        <p14:creationId xmlns:p14="http://schemas.microsoft.com/office/powerpoint/2010/main" val="38811910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469E13-23B5-9F02-3CD9-1613E4BC7B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54136-D480-6A34-02A8-538966DA30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DDA62BE-6055-6621-59DA-81E2502FC515}"/>
              </a:ext>
            </a:extLst>
          </p:cNvPr>
          <p:cNvSpPr txBox="1"/>
          <p:nvPr/>
        </p:nvSpPr>
        <p:spPr>
          <a:xfrm>
            <a:off x="1097280" y="1737360"/>
            <a:ext cx="3220720" cy="30839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Profile management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Communication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Social networking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Assignment tracking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Study tools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AEF6BD4E-23CB-FEC0-E6C5-3B140AA740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0244" y="2552764"/>
            <a:ext cx="1752472" cy="1752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1C1DD95E-7571-A0E7-717C-A1F0063556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34960" y="2552764"/>
            <a:ext cx="1752472" cy="175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17233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AB332-2400-FA8E-BE32-C1400637A4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462F8-8465-9133-CCE5-11738113DA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Functional Requirements cont.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E80910-C870-7160-FBBF-A85E6A668CA7}"/>
              </a:ext>
            </a:extLst>
          </p:cNvPr>
          <p:cNvSpPr txBox="1"/>
          <p:nvPr/>
        </p:nvSpPr>
        <p:spPr>
          <a:xfrm>
            <a:off x="1036320" y="1737360"/>
            <a:ext cx="6267450" cy="36994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File sharing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Security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Search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Data storage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Administrative tools</a:t>
            </a:r>
          </a:p>
          <a:p>
            <a:pPr marL="285750" indent="-2857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000" dirty="0"/>
              <a:t>System requirements</a:t>
            </a:r>
          </a:p>
        </p:txBody>
      </p:sp>
      <p:pic>
        <p:nvPicPr>
          <p:cNvPr id="8" name="Picture 7" descr="A blue magnifying glass&#10;&#10;AI-generated content may be incorrect.">
            <a:extLst>
              <a:ext uri="{FF2B5EF4-FFF2-40B4-BE49-F238E27FC236}">
                <a16:creationId xmlns:a16="http://schemas.microsoft.com/office/drawing/2014/main" id="{19B5C3A0-FC38-1EE1-50E7-A15BAAE73AF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7534" y="2710861"/>
            <a:ext cx="1752472" cy="1752472"/>
          </a:xfrm>
          <a:prstGeom prst="rect">
            <a:avLst/>
          </a:prstGeom>
        </p:spPr>
      </p:pic>
      <p:pic>
        <p:nvPicPr>
          <p:cNvPr id="12" name="Picture 11" descr="A blue lock and shield with check mark&#10;&#10;AI-generated content may be incorrect.">
            <a:extLst>
              <a:ext uri="{FF2B5EF4-FFF2-40B4-BE49-F238E27FC236}">
                <a16:creationId xmlns:a16="http://schemas.microsoft.com/office/drawing/2014/main" id="{ECE98841-D245-BA0C-FBCE-5C6E0575856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70045" y="2552764"/>
            <a:ext cx="1752472" cy="175247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2E8A1F5-B754-2AB1-2734-9C5FC5BAF2E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85023" y="2552764"/>
            <a:ext cx="1752472" cy="175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96083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30B569-EFAB-5D0B-5805-779BF4F60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53CBA4-4646-FBD2-58BA-9CAEB90DA6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Nonfunctional Requirements</a:t>
            </a:r>
          </a:p>
        </p:txBody>
      </p:sp>
    </p:spTree>
    <p:extLst>
      <p:ext uri="{BB962C8B-B14F-4D97-AF65-F5344CB8AC3E}">
        <p14:creationId xmlns:p14="http://schemas.microsoft.com/office/powerpoint/2010/main" val="7392139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443C0-5831-67B6-D214-3A26D4C6E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A0897B-ED9E-6382-1775-8C38E586EA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Requirements</a:t>
            </a:r>
          </a:p>
        </p:txBody>
      </p:sp>
    </p:spTree>
    <p:extLst>
      <p:ext uri="{BB962C8B-B14F-4D97-AF65-F5344CB8AC3E}">
        <p14:creationId xmlns:p14="http://schemas.microsoft.com/office/powerpoint/2010/main" val="20180985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24A11-D06A-C1CA-15C1-CF4950357A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E63B3-AF50-6302-048B-9AE131B905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 stories</a:t>
            </a:r>
          </a:p>
        </p:txBody>
      </p:sp>
    </p:spTree>
    <p:extLst>
      <p:ext uri="{BB962C8B-B14F-4D97-AF65-F5344CB8AC3E}">
        <p14:creationId xmlns:p14="http://schemas.microsoft.com/office/powerpoint/2010/main" val="2082572573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Custom 11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3E506A"/>
      </a:accent1>
      <a:accent2>
        <a:srgbClr val="0F3756"/>
      </a:accent2>
      <a:accent3>
        <a:srgbClr val="9EB5BF"/>
      </a:accent3>
      <a:accent4>
        <a:srgbClr val="9EB5BF"/>
      </a:accent4>
      <a:accent5>
        <a:srgbClr val="CEDADF"/>
      </a:accent5>
      <a:accent6>
        <a:srgbClr val="918655"/>
      </a:accent6>
      <a:hlink>
        <a:srgbClr val="99CA3C"/>
      </a:hlink>
      <a:folHlink>
        <a:srgbClr val="B9D181"/>
      </a:folHlink>
    </a:clrScheme>
    <a:fontScheme name="Retrospect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641</TotalTime>
  <Words>835</Words>
  <Application>Microsoft Office PowerPoint</Application>
  <PresentationFormat>Widescreen</PresentationFormat>
  <Paragraphs>109</Paragraphs>
  <Slides>12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Arial</vt:lpstr>
      <vt:lpstr>Calibri</vt:lpstr>
      <vt:lpstr>Calibri Light</vt:lpstr>
      <vt:lpstr>Times New Roman</vt:lpstr>
      <vt:lpstr>Retrospect</vt:lpstr>
      <vt:lpstr>PowerPoint Presentation</vt:lpstr>
      <vt:lpstr>Introduction</vt:lpstr>
      <vt:lpstr>Introduction</vt:lpstr>
      <vt:lpstr>Overview</vt:lpstr>
      <vt:lpstr>Overview</vt:lpstr>
      <vt:lpstr>Overview</vt:lpstr>
      <vt:lpstr>External Interface</vt:lpstr>
      <vt:lpstr>Functional Requirements</vt:lpstr>
      <vt:lpstr>Functional Requirements cont.</vt:lpstr>
      <vt:lpstr>Nonfunctional Requirements</vt:lpstr>
      <vt:lpstr>Other Requirements</vt:lpstr>
      <vt:lpstr>User stories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Cho, Hudson</dc:creator>
  <cp:lastModifiedBy>Cho, Hudson</cp:lastModifiedBy>
  <cp:revision>3</cp:revision>
  <dcterms:created xsi:type="dcterms:W3CDTF">2025-10-20T12:25:22Z</dcterms:created>
  <dcterms:modified xsi:type="dcterms:W3CDTF">2025-10-21T15:22:42Z</dcterms:modified>
</cp:coreProperties>
</file>