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15"/>
  </p:notesMasterIdLst>
  <p:sldIdLst>
    <p:sldId id="256" r:id="rId2"/>
    <p:sldId id="257" r:id="rId3"/>
    <p:sldId id="264" r:id="rId4"/>
    <p:sldId id="258" r:id="rId5"/>
    <p:sldId id="265" r:id="rId6"/>
    <p:sldId id="266" r:id="rId7"/>
    <p:sldId id="263" r:id="rId8"/>
    <p:sldId id="260" r:id="rId9"/>
    <p:sldId id="267" r:id="rId10"/>
    <p:sldId id="270" r:id="rId11"/>
    <p:sldId id="259" r:id="rId12"/>
    <p:sldId id="269"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42C31-21ED-4F4E-BC17-8A48F1DF5930}"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9ED01E-914A-41E4-88A0-C6BC45F53370}" type="slidenum">
              <a:rPr lang="en-US" smtClean="0"/>
              <a:t>‹#›</a:t>
            </a:fld>
            <a:endParaRPr lang="en-US"/>
          </a:p>
        </p:txBody>
      </p:sp>
    </p:spTree>
    <p:extLst>
      <p:ext uri="{BB962C8B-B14F-4D97-AF65-F5344CB8AC3E}">
        <p14:creationId xmlns:p14="http://schemas.microsoft.com/office/powerpoint/2010/main" val="1730245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we are, what our goal is, blah blah</a:t>
            </a:r>
          </a:p>
        </p:txBody>
      </p:sp>
      <p:sp>
        <p:nvSpPr>
          <p:cNvPr id="4" name="Slide Number Placeholder 3"/>
          <p:cNvSpPr>
            <a:spLocks noGrp="1"/>
          </p:cNvSpPr>
          <p:nvPr>
            <p:ph type="sldNum" sz="quarter" idx="5"/>
          </p:nvPr>
        </p:nvSpPr>
        <p:spPr/>
        <p:txBody>
          <a:bodyPr/>
          <a:lstStyle/>
          <a:p>
            <a:fld id="{269ED01E-914A-41E4-88A0-C6BC45F53370}" type="slidenum">
              <a:rPr lang="en-US" smtClean="0"/>
              <a:t>2</a:t>
            </a:fld>
            <a:endParaRPr lang="en-US"/>
          </a:p>
        </p:txBody>
      </p:sp>
    </p:spTree>
    <p:extLst>
      <p:ext uri="{BB962C8B-B14F-4D97-AF65-F5344CB8AC3E}">
        <p14:creationId xmlns:p14="http://schemas.microsoft.com/office/powerpoint/2010/main" val="757025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description of product we are creating and what core features we want it to do, </a:t>
            </a:r>
            <a:r>
              <a:rPr lang="en-US" dirty="0" err="1"/>
              <a:t>bulleetted</a:t>
            </a:r>
            <a:r>
              <a:rPr lang="en-US" dirty="0"/>
              <a:t> lists not sentences or </a:t>
            </a:r>
            <a:r>
              <a:rPr lang="en-US" dirty="0" err="1"/>
              <a:t>pargaphs</a:t>
            </a:r>
            <a:endParaRPr lang="en-US" dirty="0"/>
          </a:p>
        </p:txBody>
      </p:sp>
      <p:sp>
        <p:nvSpPr>
          <p:cNvPr id="4" name="Slide Number Placeholder 3"/>
          <p:cNvSpPr>
            <a:spLocks noGrp="1"/>
          </p:cNvSpPr>
          <p:nvPr>
            <p:ph type="sldNum" sz="quarter" idx="5"/>
          </p:nvPr>
        </p:nvSpPr>
        <p:spPr/>
        <p:txBody>
          <a:bodyPr/>
          <a:lstStyle/>
          <a:p>
            <a:fld id="{269ED01E-914A-41E4-88A0-C6BC45F53370}" type="slidenum">
              <a:rPr lang="en-US" smtClean="0"/>
              <a:t>4</a:t>
            </a:fld>
            <a:endParaRPr lang="en-US"/>
          </a:p>
        </p:txBody>
      </p:sp>
    </p:spTree>
    <p:extLst>
      <p:ext uri="{BB962C8B-B14F-4D97-AF65-F5344CB8AC3E}">
        <p14:creationId xmlns:p14="http://schemas.microsoft.com/office/powerpoint/2010/main" val="1188052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5A081-FA64-7246-854E-1B4C869D7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07DCC-5965-2414-89A4-10CF6106C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D3BD3-419B-5D51-AB42-60F2E9157908}"/>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74E22288-3175-40B6-81B1-2359C5D3C444}"/>
              </a:ext>
            </a:extLst>
          </p:cNvPr>
          <p:cNvSpPr>
            <a:spLocks noGrp="1"/>
          </p:cNvSpPr>
          <p:nvPr>
            <p:ph type="sldNum" sz="quarter" idx="5"/>
          </p:nvPr>
        </p:nvSpPr>
        <p:spPr/>
        <p:txBody>
          <a:bodyPr/>
          <a:lstStyle/>
          <a:p>
            <a:fld id="{269ED01E-914A-41E4-88A0-C6BC45F53370}" type="slidenum">
              <a:rPr lang="en-US" smtClean="0"/>
              <a:t>7</a:t>
            </a:fld>
            <a:endParaRPr lang="en-US"/>
          </a:p>
        </p:txBody>
      </p:sp>
    </p:spTree>
    <p:extLst>
      <p:ext uri="{BB962C8B-B14F-4D97-AF65-F5344CB8AC3E}">
        <p14:creationId xmlns:p14="http://schemas.microsoft.com/office/powerpoint/2010/main" val="4254775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245B7-3D8A-8032-03F4-33B854321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6BC70-9552-09E2-0132-76BA9EA60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E4CDBF-D4E2-1072-D835-5D8F0C40A857}"/>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CCA56F95-4142-614B-0AB3-D322E87CB4D7}"/>
              </a:ext>
            </a:extLst>
          </p:cNvPr>
          <p:cNvSpPr>
            <a:spLocks noGrp="1"/>
          </p:cNvSpPr>
          <p:nvPr>
            <p:ph type="sldNum" sz="quarter" idx="5"/>
          </p:nvPr>
        </p:nvSpPr>
        <p:spPr/>
        <p:txBody>
          <a:bodyPr/>
          <a:lstStyle/>
          <a:p>
            <a:fld id="{269ED01E-914A-41E4-88A0-C6BC45F53370}" type="slidenum">
              <a:rPr lang="en-US" smtClean="0"/>
              <a:t>8</a:t>
            </a:fld>
            <a:endParaRPr lang="en-US"/>
          </a:p>
        </p:txBody>
      </p:sp>
    </p:spTree>
    <p:extLst>
      <p:ext uri="{BB962C8B-B14F-4D97-AF65-F5344CB8AC3E}">
        <p14:creationId xmlns:p14="http://schemas.microsoft.com/office/powerpoint/2010/main" val="747901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ACC5-A7FB-200E-5EA1-6A75548ED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A09DC-800F-2354-F496-FE621C156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ED33A-1E02-D300-3CE2-EA66F3797700}"/>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30EB9F64-8659-F14D-480E-4259F49B888B}"/>
              </a:ext>
            </a:extLst>
          </p:cNvPr>
          <p:cNvSpPr>
            <a:spLocks noGrp="1"/>
          </p:cNvSpPr>
          <p:nvPr>
            <p:ph type="sldNum" sz="quarter" idx="5"/>
          </p:nvPr>
        </p:nvSpPr>
        <p:spPr/>
        <p:txBody>
          <a:bodyPr/>
          <a:lstStyle/>
          <a:p>
            <a:fld id="{269ED01E-914A-41E4-88A0-C6BC45F53370}" type="slidenum">
              <a:rPr lang="en-US" smtClean="0"/>
              <a:t>9</a:t>
            </a:fld>
            <a:endParaRPr lang="en-US"/>
          </a:p>
        </p:txBody>
      </p:sp>
    </p:spTree>
    <p:extLst>
      <p:ext uri="{BB962C8B-B14F-4D97-AF65-F5344CB8AC3E}">
        <p14:creationId xmlns:p14="http://schemas.microsoft.com/office/powerpoint/2010/main" val="2755344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5076A-1D4F-834C-3AE3-837DA5A18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1C253-4650-B304-9F8B-34BBA0900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00FF0-5FA4-EDD7-901D-F10189155CB5}"/>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729B7677-C252-BD44-E1D6-738279DB49D7}"/>
              </a:ext>
            </a:extLst>
          </p:cNvPr>
          <p:cNvSpPr>
            <a:spLocks noGrp="1"/>
          </p:cNvSpPr>
          <p:nvPr>
            <p:ph type="sldNum" sz="quarter" idx="5"/>
          </p:nvPr>
        </p:nvSpPr>
        <p:spPr/>
        <p:txBody>
          <a:bodyPr/>
          <a:lstStyle/>
          <a:p>
            <a:fld id="{269ED01E-914A-41E4-88A0-C6BC45F53370}" type="slidenum">
              <a:rPr lang="en-US" smtClean="0"/>
              <a:t>10</a:t>
            </a:fld>
            <a:endParaRPr lang="en-US"/>
          </a:p>
        </p:txBody>
      </p:sp>
    </p:spTree>
    <p:extLst>
      <p:ext uri="{BB962C8B-B14F-4D97-AF65-F5344CB8AC3E}">
        <p14:creationId xmlns:p14="http://schemas.microsoft.com/office/powerpoint/2010/main" val="2230273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of UI, show what we want it to look like</a:t>
            </a:r>
          </a:p>
        </p:txBody>
      </p:sp>
      <p:sp>
        <p:nvSpPr>
          <p:cNvPr id="4" name="Slide Number Placeholder 3"/>
          <p:cNvSpPr>
            <a:spLocks noGrp="1"/>
          </p:cNvSpPr>
          <p:nvPr>
            <p:ph type="sldNum" sz="quarter" idx="5"/>
          </p:nvPr>
        </p:nvSpPr>
        <p:spPr/>
        <p:txBody>
          <a:bodyPr/>
          <a:lstStyle/>
          <a:p>
            <a:fld id="{269ED01E-914A-41E4-88A0-C6BC45F53370}" type="slidenum">
              <a:rPr lang="en-US" smtClean="0"/>
              <a:t>11</a:t>
            </a:fld>
            <a:endParaRPr lang="en-US"/>
          </a:p>
        </p:txBody>
      </p:sp>
    </p:spTree>
    <p:extLst>
      <p:ext uri="{BB962C8B-B14F-4D97-AF65-F5344CB8AC3E}">
        <p14:creationId xmlns:p14="http://schemas.microsoft.com/office/powerpoint/2010/main" val="302839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6D2C-9EAE-2E39-97D5-38935EA9A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A2BFB-DC9E-9F9F-ADEB-B267B5931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4C2F6-5F82-A7BD-80A2-7B35EBB06381}"/>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DC168D7F-9435-B6BF-683F-8923D2566A4A}"/>
              </a:ext>
            </a:extLst>
          </p:cNvPr>
          <p:cNvSpPr>
            <a:spLocks noGrp="1"/>
          </p:cNvSpPr>
          <p:nvPr>
            <p:ph type="sldNum" sz="quarter" idx="5"/>
          </p:nvPr>
        </p:nvSpPr>
        <p:spPr/>
        <p:txBody>
          <a:bodyPr/>
          <a:lstStyle/>
          <a:p>
            <a:fld id="{269ED01E-914A-41E4-88A0-C6BC45F53370}" type="slidenum">
              <a:rPr lang="en-US" smtClean="0"/>
              <a:t>12</a:t>
            </a:fld>
            <a:endParaRPr lang="en-US"/>
          </a:p>
        </p:txBody>
      </p:sp>
    </p:spTree>
    <p:extLst>
      <p:ext uri="{BB962C8B-B14F-4D97-AF65-F5344CB8AC3E}">
        <p14:creationId xmlns:p14="http://schemas.microsoft.com/office/powerpoint/2010/main" val="88797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2B73B-0CE9-63C1-CF18-B8547A638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6E043-58AB-621D-53C8-BE8EEFE41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77AE7-0920-1EC3-6DDF-AE127424A4DD}"/>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9777ED15-5AF9-D5ED-52E2-888F310B262F}"/>
              </a:ext>
            </a:extLst>
          </p:cNvPr>
          <p:cNvSpPr>
            <a:spLocks noGrp="1"/>
          </p:cNvSpPr>
          <p:nvPr>
            <p:ph type="sldNum" sz="quarter" idx="5"/>
          </p:nvPr>
        </p:nvSpPr>
        <p:spPr/>
        <p:txBody>
          <a:bodyPr/>
          <a:lstStyle/>
          <a:p>
            <a:fld id="{269ED01E-914A-41E4-88A0-C6BC45F53370}" type="slidenum">
              <a:rPr lang="en-US" smtClean="0"/>
              <a:t>13</a:t>
            </a:fld>
            <a:endParaRPr lang="en-US"/>
          </a:p>
        </p:txBody>
      </p:sp>
    </p:spTree>
    <p:extLst>
      <p:ext uri="{BB962C8B-B14F-4D97-AF65-F5344CB8AC3E}">
        <p14:creationId xmlns:p14="http://schemas.microsoft.com/office/powerpoint/2010/main" val="1225981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56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748071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09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92EE44-8D87-4236-A9CD-E74E4CD01E6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3413613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92EE44-8D87-4236-A9CD-E74E4CD01E67}"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3467249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92EE44-8D87-4236-A9CD-E74E4CD01E67}"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3697258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592EE44-8D87-4236-A9CD-E74E4CD01E67}" type="datetimeFigureOut">
              <a:rPr lang="en-US" smtClean="0"/>
              <a:t>10/21/2025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57313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592EE44-8D87-4236-A9CD-E74E4CD01E67}" type="datetimeFigureOut">
              <a:rPr lang="en-US" smtClean="0"/>
              <a:t>10/21/2025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1750EEA-CF0A-42F7-B28E-89C6D751AB13}" type="slidenum">
              <a:rPr lang="en-US" smtClean="0"/>
              <a:t>‹#›</a:t>
            </a:fld>
            <a:endParaRPr lang="en-US"/>
          </a:p>
        </p:txBody>
      </p:sp>
    </p:spTree>
    <p:extLst>
      <p:ext uri="{BB962C8B-B14F-4D97-AF65-F5344CB8AC3E}">
        <p14:creationId xmlns:p14="http://schemas.microsoft.com/office/powerpoint/2010/main" val="882541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92EE44-8D87-4236-A9CD-E74E4CD01E6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227539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272343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198746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592EE44-8D87-4236-A9CD-E74E4CD01E67}" type="datetimeFigureOut">
              <a:rPr lang="en-US" smtClean="0"/>
              <a:t>10/21/2025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1750EEA-CF0A-42F7-B28E-89C6D751AB1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87277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w3.org/TR/html52/" TargetMode="External"/><Relationship Id="rId2" Type="http://schemas.openxmlformats.org/officeDocument/2006/relationships/hyperlink" Target="file:///C:\Users\coaus\ASGMNT1\ScopeAndVisionJHETInnovations.docx" TargetMode="Externa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hyperlink" Target="https://github.com/hudcho/Studious/blob/main/ASGMNT1/ScopeAndVisionJHETInnovations.docx" TargetMode="External"/><Relationship Id="rId4" Type="http://schemas.openxmlformats.org/officeDocument/2006/relationships/hyperlink" Target="https://www.postgresql.org/doc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EC492-5CDF-E102-AA55-EB3309413560}"/>
              </a:ext>
            </a:extLst>
          </p:cNvPr>
          <p:cNvSpPr>
            <a:spLocks noGrp="1"/>
          </p:cNvSpPr>
          <p:nvPr>
            <p:ph type="ctrTitle"/>
          </p:nvPr>
        </p:nvSpPr>
        <p:spPr/>
        <p:txBody>
          <a:bodyPr>
            <a:normAutofit/>
          </a:bodyPr>
          <a:lstStyle/>
          <a:p>
            <a:pPr algn="ctr"/>
            <a:br>
              <a:rPr lang="en-US" sz="6600" dirty="0"/>
            </a:br>
            <a:r>
              <a:rPr lang="en-US" sz="4000" dirty="0"/>
              <a:t>Software Requirements Specifications</a:t>
            </a:r>
            <a:endParaRPr lang="en-US" sz="6600" dirty="0"/>
          </a:p>
        </p:txBody>
      </p:sp>
      <p:sp>
        <p:nvSpPr>
          <p:cNvPr id="3" name="Subtitle 2">
            <a:extLst>
              <a:ext uri="{FF2B5EF4-FFF2-40B4-BE49-F238E27FC236}">
                <a16:creationId xmlns:a16="http://schemas.microsoft.com/office/drawing/2014/main" id="{3AC7C3B1-9A1A-2431-D9FF-6294B12675AD}"/>
              </a:ext>
            </a:extLst>
          </p:cNvPr>
          <p:cNvSpPr>
            <a:spLocks noGrp="1"/>
          </p:cNvSpPr>
          <p:nvPr>
            <p:ph type="subTitle" idx="1"/>
          </p:nvPr>
        </p:nvSpPr>
        <p:spPr/>
        <p:txBody>
          <a:bodyPr>
            <a:normAutofit/>
          </a:bodyPr>
          <a:lstStyle/>
          <a:p>
            <a:pPr algn="ctr"/>
            <a:r>
              <a:rPr lang="en-US" sz="2000" dirty="0"/>
              <a:t>Presented by</a:t>
            </a:r>
          </a:p>
        </p:txBody>
      </p:sp>
      <p:pic>
        <p:nvPicPr>
          <p:cNvPr id="5" name="Picture 4" descr="A logo of a book and a graduation cap&#10;&#10;AI-generated content may be incorrect.">
            <a:extLst>
              <a:ext uri="{FF2B5EF4-FFF2-40B4-BE49-F238E27FC236}">
                <a16:creationId xmlns:a16="http://schemas.microsoft.com/office/drawing/2014/main" id="{44549FAA-CA75-6362-F088-B9475873E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6295" y="0"/>
            <a:ext cx="4479409" cy="4479409"/>
          </a:xfrm>
          <a:prstGeom prst="rect">
            <a:avLst/>
          </a:prstGeom>
        </p:spPr>
      </p:pic>
      <p:pic>
        <p:nvPicPr>
          <p:cNvPr id="7" name="Picture 6" descr="A logo with a light bulb and text&#10;&#10;AI-generated content may be incorrect.">
            <a:extLst>
              <a:ext uri="{FF2B5EF4-FFF2-40B4-BE49-F238E27FC236}">
                <a16:creationId xmlns:a16="http://schemas.microsoft.com/office/drawing/2014/main" id="{B5FA12E1-F8E4-6543-9985-963DD88C3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2143" y="4814679"/>
            <a:ext cx="1387713" cy="1387713"/>
          </a:xfrm>
          <a:prstGeom prst="rect">
            <a:avLst/>
          </a:prstGeom>
        </p:spPr>
      </p:pic>
    </p:spTree>
    <p:extLst>
      <p:ext uri="{BB962C8B-B14F-4D97-AF65-F5344CB8AC3E}">
        <p14:creationId xmlns:p14="http://schemas.microsoft.com/office/powerpoint/2010/main" val="3911909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7370C-15A4-16B8-AD52-E7FBC5338475}"/>
              </a:ext>
            </a:extLst>
          </p:cNvPr>
          <p:cNvSpPr>
            <a:spLocks noGrp="1"/>
          </p:cNvSpPr>
          <p:nvPr>
            <p:ph type="title"/>
          </p:nvPr>
        </p:nvSpPr>
        <p:spPr/>
        <p:txBody>
          <a:bodyPr/>
          <a:lstStyle/>
          <a:p>
            <a:r>
              <a:rPr lang="en-US" dirty="0"/>
              <a:t>Introduction</a:t>
            </a:r>
          </a:p>
        </p:txBody>
      </p:sp>
      <p:sp>
        <p:nvSpPr>
          <p:cNvPr id="3" name="TextBox 2">
            <a:extLst>
              <a:ext uri="{FF2B5EF4-FFF2-40B4-BE49-F238E27FC236}">
                <a16:creationId xmlns:a16="http://schemas.microsoft.com/office/drawing/2014/main" id="{19EB5F87-5DE1-5BB0-67E1-44B411F2B2C8}"/>
              </a:ext>
            </a:extLst>
          </p:cNvPr>
          <p:cNvSpPr txBox="1"/>
          <p:nvPr/>
        </p:nvSpPr>
        <p:spPr>
          <a:xfrm>
            <a:off x="506896" y="1432271"/>
            <a:ext cx="7275444" cy="5632311"/>
          </a:xfrm>
          <a:prstGeom prst="rect">
            <a:avLst/>
          </a:prstGeom>
          <a:noFill/>
        </p:spPr>
        <p:txBody>
          <a:bodyPr wrap="square" rtlCol="0">
            <a:spAutoFit/>
          </a:bodyPr>
          <a:lstStyle/>
          <a:p>
            <a:pPr marL="342900" indent="-342900">
              <a:buFont typeface="+mj-lt"/>
              <a:buAutoNum type="arabicPeriod"/>
            </a:pPr>
            <a:r>
              <a:rPr lang="en-US" b="1" dirty="0">
                <a:latin typeface="Arial" panose="020B0604020202020204" pitchFamily="34" charset="0"/>
                <a:cs typeface="Arial" panose="020B0604020202020204" pitchFamily="34" charset="0"/>
              </a:rPr>
              <a:t>Purpose</a:t>
            </a:r>
            <a:r>
              <a:rPr lang="en-US" dirty="0">
                <a:latin typeface="Arial" panose="020B0604020202020204" pitchFamily="34" charset="0"/>
                <a:cs typeface="Arial" panose="020B0604020202020204" pitchFamily="34" charset="0"/>
              </a:rPr>
              <a:t> - This Software Requirements Specification (SRS) document defines the software requirements for Studious, a study-themed web application designed to enhance productivity and collaboration for students and self-learners. This document specifies all functional and non-functional requirements for the Studious v1.0 release. It focuses on the web application portion of the system. Any unrelated components, such as mobile versions, End-to-end encryption, and AI implementation, are excluded.   </a:t>
            </a:r>
          </a:p>
          <a:p>
            <a:pPr marL="342900" indent="-342900">
              <a:buFont typeface="+mj-lt"/>
              <a:buAutoNum type="arabicPeriod"/>
            </a:pP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b="1" dirty="0">
                <a:latin typeface="Arial" panose="020B0604020202020204" pitchFamily="34" charset="0"/>
                <a:cs typeface="Arial" panose="020B0604020202020204" pitchFamily="34" charset="0"/>
              </a:rPr>
              <a:t>Document Conventions – </a:t>
            </a:r>
            <a:r>
              <a:rPr lang="en-US" dirty="0">
                <a:latin typeface="Arial" panose="020B0604020202020204" pitchFamily="34" charset="0"/>
                <a:cs typeface="Arial" panose="020B0604020202020204" pitchFamily="34" charset="0"/>
              </a:rPr>
              <a:t>Headings, Bold Text, “Must” statements, and priorities explicitly stated for each major requirement and are not inherited by default </a:t>
            </a:r>
          </a:p>
          <a:p>
            <a:pPr marL="342900" indent="-342900">
              <a:buFont typeface="+mj-lt"/>
              <a:buAutoNum type="arabicPeriod"/>
            </a:pP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b="1" dirty="0">
                <a:latin typeface="Arial" panose="020B0604020202020204" pitchFamily="34" charset="0"/>
                <a:cs typeface="Arial" panose="020B0604020202020204" pitchFamily="34" charset="0"/>
              </a:rPr>
              <a:t>Intended Audience – </a:t>
            </a:r>
            <a:r>
              <a:rPr lang="en-US" i="1" dirty="0">
                <a:latin typeface="Arial" panose="020B0604020202020204" pitchFamily="34" charset="0"/>
                <a:cs typeface="Arial" panose="020B0604020202020204" pitchFamily="34" charset="0"/>
              </a:rPr>
              <a:t>Developers</a:t>
            </a:r>
            <a:r>
              <a:rPr lang="en-US" dirty="0">
                <a:latin typeface="Arial" panose="020B0604020202020204" pitchFamily="34" charset="0"/>
                <a:cs typeface="Arial" panose="020B0604020202020204" pitchFamily="34" charset="0"/>
              </a:rPr>
              <a:t> to understand system architecture/implement features, </a:t>
            </a:r>
            <a:r>
              <a:rPr lang="en-US" i="1" dirty="0">
                <a:latin typeface="Arial" panose="020B0604020202020204" pitchFamily="34" charset="0"/>
                <a:cs typeface="Arial" panose="020B0604020202020204" pitchFamily="34" charset="0"/>
              </a:rPr>
              <a:t>Project Managers </a:t>
            </a:r>
            <a:r>
              <a:rPr lang="en-US" dirty="0">
                <a:latin typeface="Arial" panose="020B0604020202020204" pitchFamily="34" charset="0"/>
                <a:cs typeface="Arial" panose="020B0604020202020204" pitchFamily="34" charset="0"/>
              </a:rPr>
              <a:t>to plan and manage deliverables and milestones, </a:t>
            </a:r>
            <a:r>
              <a:rPr lang="en-US" i="1" dirty="0">
                <a:latin typeface="Arial" panose="020B0604020202020204" pitchFamily="34" charset="0"/>
                <a:cs typeface="Arial" panose="020B0604020202020204" pitchFamily="34" charset="0"/>
              </a:rPr>
              <a:t>testers</a:t>
            </a:r>
            <a:r>
              <a:rPr lang="en-US" dirty="0">
                <a:latin typeface="Arial" panose="020B0604020202020204" pitchFamily="34" charset="0"/>
                <a:cs typeface="Arial" panose="020B0604020202020204" pitchFamily="34" charset="0"/>
              </a:rPr>
              <a:t> to develop test cases, and </a:t>
            </a:r>
            <a:r>
              <a:rPr lang="en-US" i="1" dirty="0">
                <a:latin typeface="Arial" panose="020B0604020202020204" pitchFamily="34" charset="0"/>
                <a:cs typeface="Arial" panose="020B0604020202020204" pitchFamily="34" charset="0"/>
              </a:rPr>
              <a:t>stakeholders</a:t>
            </a:r>
            <a:r>
              <a:rPr lang="en-US" dirty="0">
                <a:latin typeface="Arial" panose="020B0604020202020204" pitchFamily="34" charset="0"/>
                <a:cs typeface="Arial" panose="020B0604020202020204" pitchFamily="34" charset="0"/>
              </a:rPr>
              <a:t> to validate that the platform aligns with academic goals.</a:t>
            </a:r>
          </a:p>
          <a:p>
            <a:pPr marL="342900" indent="-342900">
              <a:buFont typeface="+mj-lt"/>
              <a:buAutoNum type="arabicPeriod"/>
            </a:pPr>
            <a:endParaRPr lang="en-US" b="1" dirty="0"/>
          </a:p>
          <a:p>
            <a:pPr marL="285750" indent="-285750">
              <a:buFont typeface="Arial" panose="020B0604020202020204" pitchFamily="34" charset="0"/>
              <a:buChar char="•"/>
            </a:pPr>
            <a:endParaRPr lang="en-US" b="1" dirty="0"/>
          </a:p>
        </p:txBody>
      </p:sp>
      <p:pic>
        <p:nvPicPr>
          <p:cNvPr id="4" name="Picture 3" descr="A logo with a light bulb and text&#10;&#10;AI-generated content may be incorrect.">
            <a:extLst>
              <a:ext uri="{FF2B5EF4-FFF2-40B4-BE49-F238E27FC236}">
                <a16:creationId xmlns:a16="http://schemas.microsoft.com/office/drawing/2014/main" id="{C2D3A9C6-7014-BCBB-5C4F-02FE8B87A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1523606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E6CA-2470-21F2-E199-8888BD704C30}"/>
              </a:ext>
            </a:extLst>
          </p:cNvPr>
          <p:cNvSpPr>
            <a:spLocks noGrp="1"/>
          </p:cNvSpPr>
          <p:nvPr>
            <p:ph type="title"/>
          </p:nvPr>
        </p:nvSpPr>
        <p:spPr/>
        <p:txBody>
          <a:bodyPr/>
          <a:lstStyle/>
          <a:p>
            <a:r>
              <a:rPr lang="en-US" dirty="0"/>
              <a:t>Introduction</a:t>
            </a:r>
          </a:p>
        </p:txBody>
      </p:sp>
      <p:sp>
        <p:nvSpPr>
          <p:cNvPr id="3" name="TextBox 2">
            <a:extLst>
              <a:ext uri="{FF2B5EF4-FFF2-40B4-BE49-F238E27FC236}">
                <a16:creationId xmlns:a16="http://schemas.microsoft.com/office/drawing/2014/main" id="{5BA1BCCA-74BC-4196-E9AD-75FF08F5725C}"/>
              </a:ext>
            </a:extLst>
          </p:cNvPr>
          <p:cNvSpPr txBox="1"/>
          <p:nvPr/>
        </p:nvSpPr>
        <p:spPr>
          <a:xfrm>
            <a:off x="838200" y="1868557"/>
            <a:ext cx="6993835" cy="4616648"/>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4. Product Scope: </a:t>
            </a:r>
            <a:r>
              <a:rPr lang="en-US" sz="1600" dirty="0">
                <a:latin typeface="Arial" panose="020B0604020202020204" pitchFamily="34" charset="0"/>
                <a:cs typeface="Arial" panose="020B0604020202020204" pitchFamily="34" charset="0"/>
              </a:rPr>
              <a:t>The scope for Studious defines the boundaries, objectives, and key use cases for the application, focusing on its academic and collaborative features. For a detailed review of the scope of our application please refer to our </a:t>
            </a:r>
            <a:r>
              <a:rPr lang="en-US" sz="1600" u="sng" dirty="0">
                <a:latin typeface="Arial" panose="020B0604020202020204" pitchFamily="34" charset="0"/>
                <a:cs typeface="Arial" panose="020B0604020202020204" pitchFamily="34" charset="0"/>
                <a:hlinkClick r:id="rId2" action="ppaction://hlinkfile"/>
              </a:rPr>
              <a:t>Scope and Vision Document</a:t>
            </a:r>
            <a:r>
              <a:rPr lang="en-US" sz="1600" dirty="0">
                <a:latin typeface="Arial" panose="020B0604020202020204" pitchFamily="34" charset="0"/>
                <a:cs typeface="Arial" panose="020B0604020202020204" pitchFamily="34" charset="0"/>
              </a:rPr>
              <a:t> located in the GitHub.</a:t>
            </a:r>
          </a:p>
          <a:p>
            <a:endParaRPr lang="en-US"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lvl="0"/>
            <a:r>
              <a:rPr lang="en-US" sz="1600" b="1" dirty="0">
                <a:latin typeface="Arial" panose="020B0604020202020204" pitchFamily="34" charset="0"/>
                <a:cs typeface="Arial" panose="020B0604020202020204" pitchFamily="34" charset="0"/>
              </a:rPr>
              <a:t>5. References: </a:t>
            </a:r>
          </a:p>
          <a:p>
            <a:pPr lvl="0"/>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IEEE Std. 830-1998: </a:t>
            </a:r>
            <a:r>
              <a:rPr lang="en-US" sz="1600" i="1" dirty="0">
                <a:latin typeface="Arial" panose="020B0604020202020204" pitchFamily="34" charset="0"/>
                <a:cs typeface="Arial" panose="020B0604020202020204" pitchFamily="34" charset="0"/>
              </a:rPr>
              <a:t>IEEE Recommended Practice for Software Requirements Specifications</a:t>
            </a:r>
            <a:endParaRPr lang="en-US" sz="1600" dirty="0">
              <a:latin typeface="Arial" panose="020B0604020202020204" pitchFamily="34" charset="0"/>
              <a:cs typeface="Arial" panose="020B0604020202020204" pitchFamily="34" charset="0"/>
            </a:endParaRPr>
          </a:p>
          <a:p>
            <a:pPr lvl="0"/>
            <a:r>
              <a:rPr lang="en-US" sz="1600" dirty="0">
                <a:latin typeface="Arial" panose="020B0604020202020204" pitchFamily="34" charset="0"/>
                <a:cs typeface="Arial" panose="020B0604020202020204" pitchFamily="34" charset="0"/>
              </a:rPr>
              <a:t>*W3C Web Standards Documentation - </a:t>
            </a:r>
            <a:r>
              <a:rPr lang="en-US" sz="1600" u="sng" dirty="0">
                <a:latin typeface="Arial" panose="020B0604020202020204" pitchFamily="34" charset="0"/>
                <a:cs typeface="Arial" panose="020B0604020202020204" pitchFamily="34" charset="0"/>
                <a:hlinkClick r:id="rId3"/>
              </a:rPr>
              <a:t>https://www.w3.org/TR/html52/</a:t>
            </a:r>
            <a:endParaRPr lang="en-US" sz="1600" dirty="0">
              <a:latin typeface="Arial" panose="020B0604020202020204" pitchFamily="34" charset="0"/>
              <a:cs typeface="Arial" panose="020B0604020202020204" pitchFamily="34" charset="0"/>
            </a:endParaRPr>
          </a:p>
          <a:p>
            <a:pPr lvl="0"/>
            <a:r>
              <a:rPr lang="en-US" sz="1600" dirty="0">
                <a:latin typeface="Arial" panose="020B0604020202020204" pitchFamily="34" charset="0"/>
                <a:cs typeface="Arial" panose="020B0604020202020204" pitchFamily="34" charset="0"/>
              </a:rPr>
              <a:t>*MDN Web Docs - https://developer.mozilla.org/</a:t>
            </a:r>
          </a:p>
          <a:p>
            <a:pPr lvl="0"/>
            <a:r>
              <a:rPr lang="en-US" sz="1600" dirty="0">
                <a:latin typeface="Arial" panose="020B0604020202020204" pitchFamily="34" charset="0"/>
                <a:cs typeface="Arial" panose="020B0604020202020204" pitchFamily="34" charset="0"/>
              </a:rPr>
              <a:t>*React Developer Documentation - https://react.dev/</a:t>
            </a:r>
          </a:p>
          <a:p>
            <a:pPr lvl="0"/>
            <a:r>
              <a:rPr lang="en-US" sz="1600" dirty="0">
                <a:latin typeface="Arial" panose="020B0604020202020204" pitchFamily="34" charset="0"/>
                <a:cs typeface="Arial" panose="020B0604020202020204" pitchFamily="34" charset="0"/>
              </a:rPr>
              <a:t>*Node.js Official Documentation - https://nodejs.org/</a:t>
            </a:r>
          </a:p>
          <a:p>
            <a:pPr lvl="0"/>
            <a:r>
              <a:rPr lang="en-US" sz="1600" dirty="0">
                <a:latin typeface="Arial" panose="020B0604020202020204" pitchFamily="34" charset="0"/>
                <a:cs typeface="Arial" panose="020B0604020202020204" pitchFamily="34" charset="0"/>
              </a:rPr>
              <a:t>*PostgreSQL Documentation - </a:t>
            </a:r>
            <a:r>
              <a:rPr lang="en-US" sz="1600" u="sng" dirty="0">
                <a:latin typeface="Arial" panose="020B0604020202020204" pitchFamily="34" charset="0"/>
                <a:cs typeface="Arial" panose="020B0604020202020204" pitchFamily="34" charset="0"/>
                <a:hlinkClick r:id="rId4"/>
              </a:rPr>
              <a:t>https://www.postgresql.org/docs/</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*Scope and Vision Document - </a:t>
            </a:r>
            <a:r>
              <a:rPr lang="en-US" sz="1600" u="sng" dirty="0">
                <a:latin typeface="Arial" panose="020B0604020202020204" pitchFamily="34" charset="0"/>
                <a:cs typeface="Arial" panose="020B0604020202020204" pitchFamily="34" charset="0"/>
                <a:hlinkClick r:id="rId5"/>
              </a:rPr>
              <a:t>https://github.com/hudcho/Studious/</a:t>
            </a:r>
            <a:r>
              <a:rPr lang="en-US" sz="1600" dirty="0">
                <a:latin typeface="Arial" panose="020B0604020202020204" pitchFamily="34" charset="0"/>
                <a:cs typeface="Arial" panose="020B0604020202020204" pitchFamily="34" charset="0"/>
              </a:rPr>
              <a:t> </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p>
        </p:txBody>
      </p:sp>
      <p:pic>
        <p:nvPicPr>
          <p:cNvPr id="4" name="Picture 3" descr="A logo with a light bulb and text&#10;&#10;AI-generated content may be incorrect.">
            <a:extLst>
              <a:ext uri="{FF2B5EF4-FFF2-40B4-BE49-F238E27FC236}">
                <a16:creationId xmlns:a16="http://schemas.microsoft.com/office/drawing/2014/main" id="{18E6143B-91CD-41A6-08DE-5339F40359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54996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173F-C27E-90A6-D719-BB988746C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2CA3B-343F-0D28-E25C-84CD77B0D77A}"/>
              </a:ext>
            </a:extLst>
          </p:cNvPr>
          <p:cNvSpPr>
            <a:spLocks noGrp="1"/>
          </p:cNvSpPr>
          <p:nvPr>
            <p:ph type="title"/>
          </p:nvPr>
        </p:nvSpPr>
        <p:spPr/>
        <p:txBody>
          <a:bodyPr/>
          <a:lstStyle/>
          <a:p>
            <a:r>
              <a:rPr lang="en-US" dirty="0"/>
              <a:t>Overview</a:t>
            </a:r>
          </a:p>
        </p:txBody>
      </p:sp>
      <p:sp>
        <p:nvSpPr>
          <p:cNvPr id="5" name="TextBox 4">
            <a:extLst>
              <a:ext uri="{FF2B5EF4-FFF2-40B4-BE49-F238E27FC236}">
                <a16:creationId xmlns:a16="http://schemas.microsoft.com/office/drawing/2014/main" id="{E3CDCAAF-4A23-6CDA-0BA8-7AEC1AD4E0B7}"/>
              </a:ext>
            </a:extLst>
          </p:cNvPr>
          <p:cNvSpPr txBox="1"/>
          <p:nvPr/>
        </p:nvSpPr>
        <p:spPr>
          <a:xfrm>
            <a:off x="838200" y="1848678"/>
            <a:ext cx="6546574" cy="3139321"/>
          </a:xfrm>
          <a:prstGeom prst="rect">
            <a:avLst/>
          </a:prstGeom>
          <a:noFill/>
        </p:spPr>
        <p:txBody>
          <a:bodyPr wrap="square" rtlCol="0">
            <a:spAutoFit/>
          </a:bodyPr>
          <a:lstStyle/>
          <a:p>
            <a:pPr marL="342900" indent="-342900">
              <a:buFont typeface="+mj-lt"/>
              <a:buAutoNum type="arabicPeriod"/>
            </a:pPr>
            <a:r>
              <a:rPr lang="en-US" b="1" dirty="0"/>
              <a:t>Product Perspective: </a:t>
            </a:r>
            <a:r>
              <a:rPr lang="en-US" dirty="0"/>
              <a:t>Studious will be deployed using modern web technologies, including: </a:t>
            </a:r>
          </a:p>
          <a:p>
            <a:pPr marL="285750" lvl="0" indent="-285750">
              <a:buFont typeface="Arial" panose="020B0604020202020204" pitchFamily="34" charset="0"/>
              <a:buChar char="•"/>
            </a:pPr>
            <a:r>
              <a:rPr lang="en-US" b="1" dirty="0"/>
              <a:t>Frontend:</a:t>
            </a:r>
            <a:r>
              <a:rPr lang="en-US" dirty="0"/>
              <a:t> React (with Tailwind CSS for UI styling)</a:t>
            </a:r>
          </a:p>
          <a:p>
            <a:pPr marL="285750" lvl="0" indent="-285750">
              <a:buFont typeface="Arial" panose="020B0604020202020204" pitchFamily="34" charset="0"/>
              <a:buChar char="•"/>
            </a:pPr>
            <a:r>
              <a:rPr lang="en-US" b="1" dirty="0"/>
              <a:t>Backend:</a:t>
            </a:r>
            <a:r>
              <a:rPr lang="en-US" dirty="0"/>
              <a:t> Node.js and Express</a:t>
            </a:r>
          </a:p>
          <a:p>
            <a:pPr marL="285750" lvl="0" indent="-285750">
              <a:buFont typeface="Arial" panose="020B0604020202020204" pitchFamily="34" charset="0"/>
              <a:buChar char="•"/>
            </a:pPr>
            <a:r>
              <a:rPr lang="en-US" b="1" dirty="0"/>
              <a:t>Database:</a:t>
            </a:r>
            <a:r>
              <a:rPr lang="en-US" dirty="0"/>
              <a:t> PostgreSQL</a:t>
            </a:r>
          </a:p>
          <a:p>
            <a:pPr marL="285750" lvl="0" indent="-285750">
              <a:buFont typeface="Arial" panose="020B0604020202020204" pitchFamily="34" charset="0"/>
              <a:buChar char="•"/>
            </a:pPr>
            <a:r>
              <a:rPr lang="en-US" b="1" dirty="0"/>
              <a:t>Real-Time Communication:</a:t>
            </a:r>
            <a:r>
              <a:rPr lang="en-US" dirty="0"/>
              <a:t> Socket.io</a:t>
            </a:r>
          </a:p>
          <a:p>
            <a:pPr marL="285750" lvl="0" indent="-285750">
              <a:buFont typeface="Arial" panose="020B0604020202020204" pitchFamily="34" charset="0"/>
              <a:buChar char="•"/>
            </a:pPr>
            <a:r>
              <a:rPr lang="en-US" b="1" dirty="0"/>
              <a:t>Deployment:</a:t>
            </a:r>
            <a:r>
              <a:rPr lang="en-US" dirty="0"/>
              <a:t> Frontend hosted on </a:t>
            </a:r>
            <a:r>
              <a:rPr lang="en-US" dirty="0" err="1"/>
              <a:t>Vercel</a:t>
            </a:r>
            <a:r>
              <a:rPr lang="en-US" dirty="0"/>
              <a:t>, Backend hosted on Render</a:t>
            </a:r>
          </a:p>
          <a:p>
            <a:pPr marL="285750" lvl="0" indent="-285750">
              <a:buFont typeface="Arial" panose="020B0604020202020204" pitchFamily="34" charset="0"/>
              <a:buChar char="•"/>
            </a:pPr>
            <a:endParaRPr lang="en-US" dirty="0"/>
          </a:p>
          <a:p>
            <a:pPr lvl="0"/>
            <a:endParaRPr lang="en-US" dirty="0"/>
          </a:p>
          <a:p>
            <a:pPr marL="285750" indent="-285750">
              <a:buFont typeface="Arial" panose="020B0604020202020204" pitchFamily="34" charset="0"/>
              <a:buChar char="•"/>
            </a:pPr>
            <a:endParaRPr lang="en-US" b="1" dirty="0"/>
          </a:p>
        </p:txBody>
      </p:sp>
      <p:pic>
        <p:nvPicPr>
          <p:cNvPr id="7" name="Picture 6">
            <a:extLst>
              <a:ext uri="{FF2B5EF4-FFF2-40B4-BE49-F238E27FC236}">
                <a16:creationId xmlns:a16="http://schemas.microsoft.com/office/drawing/2014/main" id="{66B922AC-98E4-0750-D191-8DA96CA7CA05}"/>
              </a:ext>
            </a:extLst>
          </p:cNvPr>
          <p:cNvPicPr>
            <a:picLocks noChangeAspect="1"/>
          </p:cNvPicPr>
          <p:nvPr/>
        </p:nvPicPr>
        <p:blipFill>
          <a:blip r:embed="rId3"/>
          <a:stretch>
            <a:fillRect/>
          </a:stretch>
        </p:blipFill>
        <p:spPr>
          <a:xfrm>
            <a:off x="156541" y="4678561"/>
            <a:ext cx="8074514" cy="2487552"/>
          </a:xfrm>
          <a:prstGeom prst="rect">
            <a:avLst/>
          </a:prstGeom>
        </p:spPr>
      </p:pic>
      <p:pic>
        <p:nvPicPr>
          <p:cNvPr id="3" name="Picture 2" descr="A logo with a light bulb and text&#10;&#10;AI-generated content may be incorrect.">
            <a:extLst>
              <a:ext uri="{FF2B5EF4-FFF2-40B4-BE49-F238E27FC236}">
                <a16:creationId xmlns:a16="http://schemas.microsoft.com/office/drawing/2014/main" id="{65CD8835-198C-C063-6032-B138E179B3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167976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66B10-05C4-91E7-87CD-A0B8F2A703D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Overview</a:t>
            </a:r>
          </a:p>
        </p:txBody>
      </p:sp>
      <p:sp>
        <p:nvSpPr>
          <p:cNvPr id="3" name="TextBox 2">
            <a:extLst>
              <a:ext uri="{FF2B5EF4-FFF2-40B4-BE49-F238E27FC236}">
                <a16:creationId xmlns:a16="http://schemas.microsoft.com/office/drawing/2014/main" id="{158B7440-D8D5-F8B9-C859-C3F8DF963896}"/>
              </a:ext>
            </a:extLst>
          </p:cNvPr>
          <p:cNvSpPr txBox="1"/>
          <p:nvPr/>
        </p:nvSpPr>
        <p:spPr>
          <a:xfrm>
            <a:off x="5894962" y="1984443"/>
            <a:ext cx="5458838" cy="4192520"/>
          </a:xfrm>
          <a:prstGeom prst="rect">
            <a:avLst/>
          </a:prstGeom>
        </p:spPr>
        <p:txBody>
          <a:bodyPr vert="horz" lIns="91440" tIns="45720" rIns="91440" bIns="45720" rtlCol="0">
            <a:normAutofit/>
          </a:bodyPr>
          <a:lstStyle/>
          <a:p>
            <a:pPr>
              <a:lnSpc>
                <a:spcPct val="90000"/>
              </a:lnSpc>
              <a:spcAft>
                <a:spcPts val="600"/>
              </a:spcAft>
            </a:pPr>
            <a:r>
              <a:rPr lang="en-US" b="1" dirty="0"/>
              <a:t>2. Product Functions</a:t>
            </a:r>
            <a:r>
              <a:rPr lang="en-US" dirty="0"/>
              <a:t>:  Study Circles, Direct Messaging, User Profiles, Note Sharing &amp; Requesting, Calendar &amp; Assignment Tracking, Pomodoro Timer, and Interactive Study Tools.</a:t>
            </a:r>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r>
              <a:rPr lang="en-US" b="1" dirty="0"/>
              <a:t>3. User Classes and Characteristics</a:t>
            </a:r>
            <a:r>
              <a:rPr lang="en-US" dirty="0"/>
              <a:t>: Depicted on the left</a:t>
            </a:r>
          </a:p>
          <a:p>
            <a:pPr>
              <a:lnSpc>
                <a:spcPct val="90000"/>
              </a:lnSpc>
              <a:spcAft>
                <a:spcPts val="600"/>
              </a:spcAft>
            </a:pPr>
            <a:endParaRPr lang="en-US" dirty="0"/>
          </a:p>
          <a:p>
            <a:pPr>
              <a:lnSpc>
                <a:spcPct val="90000"/>
              </a:lnSpc>
              <a:spcAft>
                <a:spcPts val="600"/>
              </a:spcAft>
            </a:pPr>
            <a:r>
              <a:rPr lang="en-US" b="1" dirty="0"/>
              <a:t>4. Operating Environment</a:t>
            </a:r>
            <a:r>
              <a:rPr lang="en-US" dirty="0"/>
              <a:t>: Supporting Environments include:</a:t>
            </a:r>
          </a:p>
          <a:p>
            <a:pPr lvl="0"/>
            <a:r>
              <a:rPr lang="en-US" sz="1400" b="1" dirty="0"/>
              <a:t>Operating Systems:</a:t>
            </a:r>
            <a:r>
              <a:rPr lang="en-US" sz="1400" dirty="0"/>
              <a:t> Windows 10+, macOS 12+, Linux (Ubuntu 20.04+)</a:t>
            </a:r>
          </a:p>
          <a:p>
            <a:pPr lvl="0"/>
            <a:r>
              <a:rPr lang="en-US" sz="1400" b="1" dirty="0"/>
              <a:t>Browsers:</a:t>
            </a:r>
            <a:r>
              <a:rPr lang="en-US" sz="1400" dirty="0"/>
              <a:t> Chrome (v110+), Edge (v110+), Firefox (v100+), Safari (v15+)</a:t>
            </a:r>
          </a:p>
          <a:p>
            <a:pPr lvl="0"/>
            <a:r>
              <a:rPr lang="en-US" sz="1400" b="1" dirty="0"/>
              <a:t>Internet Connection:</a:t>
            </a:r>
            <a:r>
              <a:rPr lang="en-US" sz="1400" dirty="0"/>
              <a:t> Required for messaging, data storage, and collaboration.</a:t>
            </a:r>
          </a:p>
          <a:p>
            <a:pPr>
              <a:lnSpc>
                <a:spcPct val="90000"/>
              </a:lnSpc>
              <a:spcAft>
                <a:spcPts val="600"/>
              </a:spcAft>
            </a:pPr>
            <a:endParaRPr lang="en-US" dirty="0"/>
          </a:p>
          <a:p>
            <a:pPr>
              <a:lnSpc>
                <a:spcPct val="90000"/>
              </a:lnSpc>
              <a:spcAft>
                <a:spcPts val="600"/>
              </a:spcAft>
            </a:pPr>
            <a:endParaRPr lang="en-US" b="1" dirty="0"/>
          </a:p>
          <a:p>
            <a:pPr indent="-228600">
              <a:lnSpc>
                <a:spcPct val="90000"/>
              </a:lnSpc>
              <a:spcAft>
                <a:spcPts val="600"/>
              </a:spcAft>
              <a:buFont typeface="Arial" panose="020B0604020202020204" pitchFamily="34" charset="0"/>
              <a:buChar char="•"/>
            </a:pPr>
            <a:endParaRPr lang="en-US" b="1" dirty="0"/>
          </a:p>
          <a:p>
            <a:pPr indent="-228600">
              <a:lnSpc>
                <a:spcPct val="90000"/>
              </a:lnSpc>
              <a:spcAft>
                <a:spcPts val="600"/>
              </a:spcAft>
              <a:buFont typeface="Arial" panose="020B0604020202020204" pitchFamily="34" charset="0"/>
              <a:buChar char="•"/>
            </a:pPr>
            <a:endParaRPr lang="en-US" b="1" dirty="0"/>
          </a:p>
        </p:txBody>
      </p:sp>
      <p:graphicFrame>
        <p:nvGraphicFramePr>
          <p:cNvPr id="4" name="Table 3">
            <a:extLst>
              <a:ext uri="{FF2B5EF4-FFF2-40B4-BE49-F238E27FC236}">
                <a16:creationId xmlns:a16="http://schemas.microsoft.com/office/drawing/2014/main" id="{69BC4DB0-04E7-FE90-13C3-8988BA32C186}"/>
              </a:ext>
            </a:extLst>
          </p:cNvPr>
          <p:cNvGraphicFramePr>
            <a:graphicFrameLocks noGrp="1"/>
          </p:cNvGraphicFramePr>
          <p:nvPr>
            <p:extLst>
              <p:ext uri="{D42A27DB-BD31-4B8C-83A1-F6EECF244321}">
                <p14:modId xmlns:p14="http://schemas.microsoft.com/office/powerpoint/2010/main" val="3141556323"/>
              </p:ext>
            </p:extLst>
          </p:nvPr>
        </p:nvGraphicFramePr>
        <p:xfrm>
          <a:off x="95857" y="2388564"/>
          <a:ext cx="4777383" cy="1152303"/>
        </p:xfrm>
        <a:graphic>
          <a:graphicData uri="http://schemas.openxmlformats.org/drawingml/2006/table">
            <a:tbl>
              <a:tblPr firstRow="1" firstCol="1" bandRow="1"/>
              <a:tblGrid>
                <a:gridCol w="1069056">
                  <a:extLst>
                    <a:ext uri="{9D8B030D-6E8A-4147-A177-3AD203B41FA5}">
                      <a16:colId xmlns:a16="http://schemas.microsoft.com/office/drawing/2014/main" val="650291121"/>
                    </a:ext>
                  </a:extLst>
                </a:gridCol>
                <a:gridCol w="2327499">
                  <a:extLst>
                    <a:ext uri="{9D8B030D-6E8A-4147-A177-3AD203B41FA5}">
                      <a16:colId xmlns:a16="http://schemas.microsoft.com/office/drawing/2014/main" val="3048312930"/>
                    </a:ext>
                  </a:extLst>
                </a:gridCol>
                <a:gridCol w="664802">
                  <a:extLst>
                    <a:ext uri="{9D8B030D-6E8A-4147-A177-3AD203B41FA5}">
                      <a16:colId xmlns:a16="http://schemas.microsoft.com/office/drawing/2014/main" val="2569473128"/>
                    </a:ext>
                  </a:extLst>
                </a:gridCol>
                <a:gridCol w="716026">
                  <a:extLst>
                    <a:ext uri="{9D8B030D-6E8A-4147-A177-3AD203B41FA5}">
                      <a16:colId xmlns:a16="http://schemas.microsoft.com/office/drawing/2014/main" val="2408838475"/>
                    </a:ext>
                  </a:extLst>
                </a:gridCol>
              </a:tblGrid>
              <a:tr h="0">
                <a:tc>
                  <a:txBody>
                    <a:bodyPr/>
                    <a:lstStyle/>
                    <a:p>
                      <a:pPr marL="0" marR="0" algn="ctr" fontAlgn="ctr">
                        <a:lnSpc>
                          <a:spcPts val="1200"/>
                        </a:lnSpc>
                        <a:buNone/>
                      </a:pPr>
                      <a:r>
                        <a:rPr lang="en-US" sz="10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User Class</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ctr" fontAlgn="ctr">
                        <a:lnSpc>
                          <a:spcPts val="1200"/>
                        </a:lnSpc>
                        <a:buNone/>
                      </a:pPr>
                      <a:r>
                        <a:rPr lang="en-US" sz="10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ctr" fontAlgn="ctr">
                        <a:lnSpc>
                          <a:spcPts val="1200"/>
                        </a:lnSpc>
                        <a:buNone/>
                      </a:pPr>
                      <a:r>
                        <a:rPr lang="en-US" sz="10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Technical Expertise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ctr" fontAlgn="ctr">
                        <a:lnSpc>
                          <a:spcPts val="1200"/>
                        </a:lnSpc>
                        <a:buNone/>
                      </a:pPr>
                      <a:r>
                        <a:rPr lang="en-US" sz="10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Frequency of Use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1657638819"/>
                  </a:ext>
                </a:extLst>
              </a:tr>
              <a:tr h="320966">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Students: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Primary users who collaborate in study circles and track study progress.</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Basic–Moderate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Daily</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4266940528"/>
                  </a:ext>
                </a:extLst>
              </a:tr>
              <a:tr h="188061">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Educators/Tutors: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Create or oversee group study sessions.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Moderate</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Weekly</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734647132"/>
                  </a:ext>
                </a:extLst>
              </a:tr>
              <a:tr h="320966">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Administrators: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Manage user accounts, data integrity, and system maintenance.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Advanced</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As needed</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2264448489"/>
                  </a:ext>
                </a:extLst>
              </a:tr>
            </a:tbl>
          </a:graphicData>
        </a:graphic>
      </p:graphicFrame>
      <p:pic>
        <p:nvPicPr>
          <p:cNvPr id="5" name="Picture 4" descr="A logo with a light bulb and text&#10;&#10;AI-generated content may be incorrect.">
            <a:extLst>
              <a:ext uri="{FF2B5EF4-FFF2-40B4-BE49-F238E27FC236}">
                <a16:creationId xmlns:a16="http://schemas.microsoft.com/office/drawing/2014/main" id="{1533204A-1E2B-A761-CF90-1CB784E38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2141420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8030-34E3-5373-2038-A447124E9A6C}"/>
              </a:ext>
            </a:extLst>
          </p:cNvPr>
          <p:cNvSpPr>
            <a:spLocks noGrp="1"/>
          </p:cNvSpPr>
          <p:nvPr>
            <p:ph type="title"/>
          </p:nvPr>
        </p:nvSpPr>
        <p:spPr/>
        <p:txBody>
          <a:bodyPr/>
          <a:lstStyle/>
          <a:p>
            <a:r>
              <a:rPr lang="en-US" dirty="0"/>
              <a:t>Overview</a:t>
            </a:r>
          </a:p>
        </p:txBody>
      </p:sp>
      <p:sp>
        <p:nvSpPr>
          <p:cNvPr id="3" name="TextBox 2">
            <a:extLst>
              <a:ext uri="{FF2B5EF4-FFF2-40B4-BE49-F238E27FC236}">
                <a16:creationId xmlns:a16="http://schemas.microsoft.com/office/drawing/2014/main" id="{906A5458-033A-76F0-2C5B-E0EC81D4301E}"/>
              </a:ext>
            </a:extLst>
          </p:cNvPr>
          <p:cNvSpPr txBox="1"/>
          <p:nvPr/>
        </p:nvSpPr>
        <p:spPr>
          <a:xfrm>
            <a:off x="838200" y="1590261"/>
            <a:ext cx="7692887" cy="600164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5. Design &amp; Implementation Constraints:</a:t>
            </a:r>
          </a:p>
          <a:p>
            <a:pPr marL="285750" lvl="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Must be implemented using </a:t>
            </a:r>
            <a:r>
              <a:rPr lang="en-US" sz="1400" b="1" dirty="0">
                <a:latin typeface="Arial" panose="020B0604020202020204" pitchFamily="34" charset="0"/>
                <a:cs typeface="Arial" panose="020B0604020202020204" pitchFamily="34" charset="0"/>
              </a:rPr>
              <a:t>React</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Node.js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Express</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PostgreSQL</a:t>
            </a:r>
            <a:r>
              <a:rPr lang="en-US" sz="1400" dirty="0">
                <a:latin typeface="Arial" panose="020B0604020202020204" pitchFamily="34" charset="0"/>
                <a:cs typeface="Arial" panose="020B0604020202020204" pitchFamily="34" charset="0"/>
              </a:rPr>
              <a:t>.</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use </a:t>
            </a:r>
            <a:r>
              <a:rPr lang="en-US" sz="1400" b="1" dirty="0">
                <a:latin typeface="Arial" panose="020B0604020202020204" pitchFamily="34" charset="0"/>
                <a:cs typeface="Arial" panose="020B0604020202020204" pitchFamily="34" charset="0"/>
              </a:rPr>
              <a:t>Socket.io</a:t>
            </a:r>
            <a:r>
              <a:rPr lang="en-US" sz="1400" dirty="0">
                <a:latin typeface="Arial" panose="020B0604020202020204" pitchFamily="34" charset="0"/>
                <a:cs typeface="Arial" panose="020B0604020202020204" pitchFamily="34" charset="0"/>
              </a:rPr>
              <a:t> for real-time study circle and messaging functionality.</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follow </a:t>
            </a:r>
            <a:r>
              <a:rPr lang="en-US" sz="1400" b="1" dirty="0">
                <a:latin typeface="Arial" panose="020B0604020202020204" pitchFamily="34" charset="0"/>
                <a:cs typeface="Arial" panose="020B0604020202020204" pitchFamily="34" charset="0"/>
              </a:rPr>
              <a:t>GDPR</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FERPA</a:t>
            </a:r>
            <a:r>
              <a:rPr lang="en-US" sz="1400" dirty="0">
                <a:latin typeface="Arial" panose="020B0604020202020204" pitchFamily="34" charset="0"/>
                <a:cs typeface="Arial" panose="020B0604020202020204" pitchFamily="34" charset="0"/>
              </a:rPr>
              <a:t> compliance for data security.</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use </a:t>
            </a:r>
            <a:r>
              <a:rPr lang="en-US" sz="1400" b="1" dirty="0">
                <a:latin typeface="Arial" panose="020B0604020202020204" pitchFamily="34" charset="0"/>
                <a:cs typeface="Arial" panose="020B0604020202020204" pitchFamily="34" charset="0"/>
              </a:rPr>
              <a:t>HTTPS</a:t>
            </a:r>
            <a:r>
              <a:rPr lang="en-US" sz="1400" dirty="0">
                <a:latin typeface="Arial" panose="020B0604020202020204" pitchFamily="34" charset="0"/>
                <a:cs typeface="Arial" panose="020B0604020202020204" pitchFamily="34" charset="0"/>
              </a:rPr>
              <a:t> for secure client-server communication.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ensure page load and response times within </a:t>
            </a:r>
            <a:r>
              <a:rPr lang="en-US" sz="1400" b="1" dirty="0">
                <a:latin typeface="Arial" panose="020B0604020202020204" pitchFamily="34" charset="0"/>
                <a:cs typeface="Arial" panose="020B0604020202020204" pitchFamily="34" charset="0"/>
              </a:rPr>
              <a:t>3 seconds</a:t>
            </a:r>
            <a:r>
              <a:rPr lang="en-US" sz="1400" dirty="0">
                <a:latin typeface="Arial" panose="020B0604020202020204" pitchFamily="34" charset="0"/>
                <a:cs typeface="Arial" panose="020B0604020202020204" pitchFamily="34" charset="0"/>
              </a:rPr>
              <a:t> under normal load.</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be designed for scalability to support future cloud migration.</a:t>
            </a: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lvl="0"/>
            <a:r>
              <a:rPr lang="en-US" sz="1400" b="1" dirty="0">
                <a:latin typeface="Arial" panose="020B0604020202020204" pitchFamily="34" charset="0"/>
                <a:cs typeface="Arial" panose="020B0604020202020204" pitchFamily="34" charset="0"/>
              </a:rPr>
              <a:t>6. User Documentation: </a:t>
            </a:r>
            <a:r>
              <a:rPr lang="en-US" sz="1400" dirty="0">
                <a:latin typeface="Arial" panose="020B0604020202020204" pitchFamily="34" charset="0"/>
                <a:cs typeface="Arial" panose="020B0604020202020204" pitchFamily="34" charset="0"/>
              </a:rPr>
              <a:t>User Manual, Quick Start Guide, and FAQ Page, and Developer Documentation(Internal)</a:t>
            </a:r>
          </a:p>
          <a:p>
            <a:pPr lvl="0"/>
            <a:endParaRPr lang="en-US" sz="1400" b="1" dirty="0">
              <a:latin typeface="Arial" panose="020B0604020202020204" pitchFamily="34" charset="0"/>
              <a:cs typeface="Arial" panose="020B0604020202020204" pitchFamily="34" charset="0"/>
            </a:endParaRPr>
          </a:p>
          <a:p>
            <a:pPr lvl="0"/>
            <a:r>
              <a:rPr lang="en-US" sz="1400" b="1" dirty="0">
                <a:latin typeface="Arial" panose="020B0604020202020204" pitchFamily="34" charset="0"/>
                <a:cs typeface="Arial" panose="020B0604020202020204" pitchFamily="34" charset="0"/>
              </a:rPr>
              <a:t>7. Assumption and Dependencies</a:t>
            </a:r>
            <a:r>
              <a:rPr lang="en-US" sz="1400" dirty="0">
                <a:latin typeface="Arial" panose="020B0604020202020204" pitchFamily="34" charset="0"/>
                <a:cs typeface="Arial" panose="020B0604020202020204" pitchFamily="34" charset="0"/>
              </a:rPr>
              <a:t>: </a:t>
            </a:r>
          </a:p>
          <a:p>
            <a:pPr lvl="0"/>
            <a:r>
              <a:rPr lang="en-US" sz="1400" b="1" dirty="0">
                <a:latin typeface="Arial" panose="020B0604020202020204" pitchFamily="34" charset="0"/>
                <a:cs typeface="Arial" panose="020B0604020202020204" pitchFamily="34" charset="0"/>
              </a:rPr>
              <a:t>Assumptions: </a:t>
            </a:r>
          </a:p>
          <a:p>
            <a:pPr lvl="0"/>
            <a:r>
              <a:rPr lang="en-US" sz="1400" dirty="0">
                <a:latin typeface="Arial" panose="020B0604020202020204" pitchFamily="34" charset="0"/>
                <a:cs typeface="Arial" panose="020B0604020202020204" pitchFamily="34" charset="0"/>
              </a:rPr>
              <a:t>Users have reliable internet access and a modern browser.</a:t>
            </a:r>
          </a:p>
          <a:p>
            <a:pPr lvl="0"/>
            <a:r>
              <a:rPr lang="en-US" sz="1400" dirty="0">
                <a:latin typeface="Arial" panose="020B0604020202020204" pitchFamily="34" charset="0"/>
                <a:cs typeface="Arial" panose="020B0604020202020204" pitchFamily="34" charset="0"/>
              </a:rPr>
              <a:t>Users are familiar with basic online collaboration tools.</a:t>
            </a:r>
          </a:p>
          <a:p>
            <a:pPr lvl="0"/>
            <a:r>
              <a:rPr lang="en-US" sz="1400" dirty="0">
                <a:latin typeface="Arial" panose="020B0604020202020204" pitchFamily="34" charset="0"/>
                <a:cs typeface="Arial" panose="020B0604020202020204" pitchFamily="34" charset="0"/>
              </a:rPr>
              <a:t>Students and tutors will actively engage with the app’s productivity and communication features. </a:t>
            </a:r>
          </a:p>
          <a:p>
            <a:r>
              <a:rPr lang="en-US" sz="1400" b="1" dirty="0">
                <a:latin typeface="Arial" panose="020B0604020202020204" pitchFamily="34" charset="0"/>
                <a:cs typeface="Arial" panose="020B0604020202020204" pitchFamily="34" charset="0"/>
              </a:rPr>
              <a:t>Dependencies:</a:t>
            </a:r>
            <a:endParaRPr lang="en-US"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Node.js and Express for backend logic.</a:t>
            </a:r>
          </a:p>
          <a:p>
            <a:pPr lvl="0"/>
            <a:r>
              <a:rPr lang="en-US" sz="1400" dirty="0">
                <a:latin typeface="Arial" panose="020B0604020202020204" pitchFamily="34" charset="0"/>
                <a:cs typeface="Arial" panose="020B0604020202020204" pitchFamily="34" charset="0"/>
              </a:rPr>
              <a:t>PostgreSQL for database management.</a:t>
            </a:r>
          </a:p>
          <a:p>
            <a:pPr lvl="0"/>
            <a:r>
              <a:rPr lang="en-US" sz="1400" dirty="0">
                <a:latin typeface="Arial" panose="020B0604020202020204" pitchFamily="34" charset="0"/>
                <a:cs typeface="Arial" panose="020B0604020202020204" pitchFamily="34" charset="0"/>
              </a:rPr>
              <a:t>Socket.io for real-time communication.</a:t>
            </a:r>
          </a:p>
          <a:p>
            <a:pPr lvl="0"/>
            <a:r>
              <a:rPr lang="en-US" sz="1400" dirty="0" err="1">
                <a:latin typeface="Arial" panose="020B0604020202020204" pitchFamily="34" charset="0"/>
                <a:cs typeface="Arial" panose="020B0604020202020204" pitchFamily="34" charset="0"/>
              </a:rPr>
              <a:t>Vercel</a:t>
            </a:r>
            <a:r>
              <a:rPr lang="en-US" sz="1400" dirty="0">
                <a:latin typeface="Arial" panose="020B0604020202020204" pitchFamily="34" charset="0"/>
                <a:cs typeface="Arial" panose="020B0604020202020204" pitchFamily="34" charset="0"/>
              </a:rPr>
              <a:t> (frontend) and Render (backend) for hosting and deployment</a:t>
            </a:r>
            <a:r>
              <a:rPr lang="en-US" sz="1600" dirty="0">
                <a:latin typeface="Arial" panose="020B0604020202020204" pitchFamily="34" charset="0"/>
                <a:cs typeface="Arial" panose="020B0604020202020204" pitchFamily="34" charset="0"/>
              </a:rPr>
              <a:t>.</a:t>
            </a:r>
          </a:p>
          <a:p>
            <a:pPr lvl="0"/>
            <a:endParaRPr lang="en-US" dirty="0"/>
          </a:p>
          <a:p>
            <a:pPr lvl="0"/>
            <a:endParaRPr lang="en-US" dirty="0"/>
          </a:p>
          <a:p>
            <a:pPr lvl="0"/>
            <a:endParaRPr lang="en-US" dirty="0"/>
          </a:p>
          <a:p>
            <a:pPr marL="285750" indent="-285750">
              <a:buFont typeface="Arial" panose="020B0604020202020204" pitchFamily="34" charset="0"/>
              <a:buChar char="•"/>
            </a:pPr>
            <a:endParaRPr lang="en-US" b="1" dirty="0"/>
          </a:p>
        </p:txBody>
      </p:sp>
      <p:pic>
        <p:nvPicPr>
          <p:cNvPr id="4" name="Picture 3" descr="A logo with a light bulb and text&#10;&#10;AI-generated content may be incorrect.">
            <a:extLst>
              <a:ext uri="{FF2B5EF4-FFF2-40B4-BE49-F238E27FC236}">
                <a16:creationId xmlns:a16="http://schemas.microsoft.com/office/drawing/2014/main" id="{C19250EB-AB88-B1C6-7BE3-3E1C8F039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16561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4A11-D06A-C1CA-15C1-CF4950357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E63B3-AF50-6302-048B-9AE131B90500}"/>
              </a:ext>
            </a:extLst>
          </p:cNvPr>
          <p:cNvSpPr>
            <a:spLocks noGrp="1"/>
          </p:cNvSpPr>
          <p:nvPr>
            <p:ph type="title"/>
          </p:nvPr>
        </p:nvSpPr>
        <p:spPr/>
        <p:txBody>
          <a:bodyPr/>
          <a:lstStyle/>
          <a:p>
            <a:r>
              <a:rPr lang="en-US" dirty="0"/>
              <a:t>User stories</a:t>
            </a:r>
          </a:p>
        </p:txBody>
      </p:sp>
      <p:pic>
        <p:nvPicPr>
          <p:cNvPr id="3" name="Picture 2" descr="A logo with a light bulb and text&#10;&#10;AI-generated content may be incorrect.">
            <a:extLst>
              <a:ext uri="{FF2B5EF4-FFF2-40B4-BE49-F238E27FC236}">
                <a16:creationId xmlns:a16="http://schemas.microsoft.com/office/drawing/2014/main" id="{9AF740B4-CFF1-4ACB-0272-82E2BC257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graphicFrame>
        <p:nvGraphicFramePr>
          <p:cNvPr id="5" name="Table 4">
            <a:extLst>
              <a:ext uri="{FF2B5EF4-FFF2-40B4-BE49-F238E27FC236}">
                <a16:creationId xmlns:a16="http://schemas.microsoft.com/office/drawing/2014/main" id="{541D3C45-1621-9D71-4A6A-0EE50550F122}"/>
              </a:ext>
            </a:extLst>
          </p:cNvPr>
          <p:cNvGraphicFramePr>
            <a:graphicFrameLocks noGrp="1"/>
          </p:cNvGraphicFramePr>
          <p:nvPr>
            <p:extLst>
              <p:ext uri="{D42A27DB-BD31-4B8C-83A1-F6EECF244321}">
                <p14:modId xmlns:p14="http://schemas.microsoft.com/office/powerpoint/2010/main" val="1579880755"/>
              </p:ext>
            </p:extLst>
          </p:nvPr>
        </p:nvGraphicFramePr>
        <p:xfrm>
          <a:off x="1058530" y="2104127"/>
          <a:ext cx="10135899" cy="3608776"/>
        </p:xfrm>
        <a:graphic>
          <a:graphicData uri="http://schemas.openxmlformats.org/drawingml/2006/table">
            <a:tbl>
              <a:tblPr firstRow="1" firstCol="1" bandRow="1">
                <a:tableStyleId>{5C22544A-7EE6-4342-B048-85BDC9FD1C3A}</a:tableStyleId>
              </a:tblPr>
              <a:tblGrid>
                <a:gridCol w="710921">
                  <a:extLst>
                    <a:ext uri="{9D8B030D-6E8A-4147-A177-3AD203B41FA5}">
                      <a16:colId xmlns:a16="http://schemas.microsoft.com/office/drawing/2014/main" val="1057534138"/>
                    </a:ext>
                  </a:extLst>
                </a:gridCol>
                <a:gridCol w="556066">
                  <a:extLst>
                    <a:ext uri="{9D8B030D-6E8A-4147-A177-3AD203B41FA5}">
                      <a16:colId xmlns:a16="http://schemas.microsoft.com/office/drawing/2014/main" val="3881658530"/>
                    </a:ext>
                  </a:extLst>
                </a:gridCol>
                <a:gridCol w="904990">
                  <a:extLst>
                    <a:ext uri="{9D8B030D-6E8A-4147-A177-3AD203B41FA5}">
                      <a16:colId xmlns:a16="http://schemas.microsoft.com/office/drawing/2014/main" val="1483644850"/>
                    </a:ext>
                  </a:extLst>
                </a:gridCol>
                <a:gridCol w="1085989">
                  <a:extLst>
                    <a:ext uri="{9D8B030D-6E8A-4147-A177-3AD203B41FA5}">
                      <a16:colId xmlns:a16="http://schemas.microsoft.com/office/drawing/2014/main" val="4216286490"/>
                    </a:ext>
                  </a:extLst>
                </a:gridCol>
                <a:gridCol w="2986470">
                  <a:extLst>
                    <a:ext uri="{9D8B030D-6E8A-4147-A177-3AD203B41FA5}">
                      <a16:colId xmlns:a16="http://schemas.microsoft.com/office/drawing/2014/main" val="2309101086"/>
                    </a:ext>
                  </a:extLst>
                </a:gridCol>
                <a:gridCol w="1204644">
                  <a:extLst>
                    <a:ext uri="{9D8B030D-6E8A-4147-A177-3AD203B41FA5}">
                      <a16:colId xmlns:a16="http://schemas.microsoft.com/office/drawing/2014/main" val="2735014902"/>
                    </a:ext>
                  </a:extLst>
                </a:gridCol>
                <a:gridCol w="2686819">
                  <a:extLst>
                    <a:ext uri="{9D8B030D-6E8A-4147-A177-3AD203B41FA5}">
                      <a16:colId xmlns:a16="http://schemas.microsoft.com/office/drawing/2014/main" val="2037717768"/>
                    </a:ext>
                  </a:extLst>
                </a:gridCol>
              </a:tblGrid>
              <a:tr h="565310">
                <a:tc>
                  <a:txBody>
                    <a:bodyPr/>
                    <a:lstStyle/>
                    <a:p>
                      <a:pPr marL="0" marR="0" indent="0" algn="ctr">
                        <a:lnSpc>
                          <a:spcPct val="115000"/>
                        </a:lnSpc>
                        <a:buFont typeface="Arial" panose="020B0604020202020204" pitchFamily="34" charset="0"/>
                        <a:buNone/>
                      </a:pPr>
                      <a:r>
                        <a:rPr lang="en-US" sz="1400" dirty="0">
                          <a:effectLst/>
                        </a:rPr>
                        <a:t>ID</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 </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ROLE</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 </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FUNCTION PERFORMED</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dirty="0">
                          <a:effectLst/>
                        </a:rPr>
                        <a:t> </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BUSINESS REASON</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622030"/>
                  </a:ext>
                </a:extLst>
              </a:tr>
              <a:tr h="1335331">
                <a:tc>
                  <a:txBody>
                    <a:bodyPr/>
                    <a:lstStyle/>
                    <a:p>
                      <a:pPr marL="0" marR="0" indent="0">
                        <a:lnSpc>
                          <a:spcPct val="115000"/>
                        </a:lnSpc>
                        <a:buFont typeface="Arial" panose="020B0604020202020204" pitchFamily="34" charset="0"/>
                        <a:buNone/>
                      </a:pPr>
                      <a:r>
                        <a:rPr lang="en-US" sz="1400">
                          <a:effectLst/>
                        </a:rPr>
                        <a:t>US#1</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As a</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Student</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dirty="0">
                          <a:effectLst/>
                        </a:rPr>
                        <a:t>I need the system to</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dirty="0">
                          <a:effectLst/>
                        </a:rPr>
                        <a:t>Provide a way for users to upload information about their current coursework, grade level, and attending school</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so that I may</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a:effectLst/>
                        </a:rPr>
                        <a:t>Connect with my peers that are taking similar courses, in the same grade, or in the same school as collaborating with these peers would be the most beneficial.</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875616"/>
                  </a:ext>
                </a:extLst>
              </a:tr>
              <a:tr h="757815">
                <a:tc>
                  <a:txBody>
                    <a:bodyPr/>
                    <a:lstStyle/>
                    <a:p>
                      <a:pPr marL="0" marR="0" indent="0">
                        <a:lnSpc>
                          <a:spcPct val="115000"/>
                        </a:lnSpc>
                        <a:buFont typeface="Arial" panose="020B0604020202020204" pitchFamily="34" charset="0"/>
                        <a:buNone/>
                      </a:pPr>
                      <a:r>
                        <a:rPr lang="en-US" sz="1400">
                          <a:effectLst/>
                        </a:rPr>
                        <a:t>US#2</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As a</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Student</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I need the system to</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a:effectLst/>
                        </a:rPr>
                        <a:t>Support sharing text, images, and files within direct messaging and within study circles</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so that I may</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dirty="0">
                          <a:effectLst/>
                        </a:rPr>
                        <a:t>Share notes, assignments, and collaborate more effectively with my peers</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687854"/>
                  </a:ext>
                </a:extLst>
              </a:tr>
              <a:tr h="950320">
                <a:tc>
                  <a:txBody>
                    <a:bodyPr/>
                    <a:lstStyle/>
                    <a:p>
                      <a:pPr marL="0" marR="0" indent="0">
                        <a:lnSpc>
                          <a:spcPct val="115000"/>
                        </a:lnSpc>
                        <a:buFont typeface="Arial" panose="020B0604020202020204" pitchFamily="34" charset="0"/>
                        <a:buNone/>
                      </a:pPr>
                      <a:r>
                        <a:rPr lang="en-US" sz="1400">
                          <a:effectLst/>
                        </a:rPr>
                        <a:t>US#3</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As a</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Student</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I need the system to</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a:effectLst/>
                        </a:rPr>
                        <a:t>Support messaging through both direct messaging as well as study circles </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dirty="0">
                          <a:effectLst/>
                        </a:rPr>
                        <a:t>so that I may</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dirty="0">
                          <a:effectLst/>
                        </a:rPr>
                        <a:t>Collaborate with my peers over a service that is specifically designed to support learning and education</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923846"/>
                  </a:ext>
                </a:extLst>
              </a:tr>
            </a:tbl>
          </a:graphicData>
        </a:graphic>
      </p:graphicFrame>
    </p:spTree>
    <p:extLst>
      <p:ext uri="{BB962C8B-B14F-4D97-AF65-F5344CB8AC3E}">
        <p14:creationId xmlns:p14="http://schemas.microsoft.com/office/powerpoint/2010/main" val="208257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69E13-23B5-9F02-3CD9-1613E4BC7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54136-D480-6A34-02A8-538966DA3091}"/>
              </a:ext>
            </a:extLst>
          </p:cNvPr>
          <p:cNvSpPr>
            <a:spLocks noGrp="1"/>
          </p:cNvSpPr>
          <p:nvPr>
            <p:ph type="title"/>
          </p:nvPr>
        </p:nvSpPr>
        <p:spPr/>
        <p:txBody>
          <a:bodyPr/>
          <a:lstStyle/>
          <a:p>
            <a:r>
              <a:rPr lang="en-US" dirty="0"/>
              <a:t>Functional Requirements</a:t>
            </a:r>
          </a:p>
        </p:txBody>
      </p:sp>
      <p:sp>
        <p:nvSpPr>
          <p:cNvPr id="10" name="TextBox 9">
            <a:extLst>
              <a:ext uri="{FF2B5EF4-FFF2-40B4-BE49-F238E27FC236}">
                <a16:creationId xmlns:a16="http://schemas.microsoft.com/office/drawing/2014/main" id="{2DDA62BE-6055-6621-59DA-81E2502FC515}"/>
              </a:ext>
            </a:extLst>
          </p:cNvPr>
          <p:cNvSpPr txBox="1"/>
          <p:nvPr/>
        </p:nvSpPr>
        <p:spPr>
          <a:xfrm>
            <a:off x="1097280" y="1737360"/>
            <a:ext cx="3220720" cy="431502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Communication</a:t>
            </a:r>
          </a:p>
          <a:p>
            <a:pPr marL="285750" indent="-285750">
              <a:lnSpc>
                <a:spcPct val="200000"/>
              </a:lnSpc>
              <a:buFont typeface="Arial" panose="020B0604020202020204" pitchFamily="34" charset="0"/>
              <a:buChar char="•"/>
            </a:pPr>
            <a:r>
              <a:rPr lang="en-US" sz="2000" dirty="0"/>
              <a:t>Filesharing</a:t>
            </a:r>
          </a:p>
          <a:p>
            <a:pPr marL="285750" indent="-285750">
              <a:lnSpc>
                <a:spcPct val="200000"/>
              </a:lnSpc>
              <a:buFont typeface="Arial" panose="020B0604020202020204" pitchFamily="34" charset="0"/>
              <a:buChar char="•"/>
            </a:pPr>
            <a:r>
              <a:rPr lang="en-US" sz="2000" dirty="0"/>
              <a:t>Assignment tracking</a:t>
            </a:r>
          </a:p>
          <a:p>
            <a:pPr marL="285750" indent="-285750">
              <a:lnSpc>
                <a:spcPct val="200000"/>
              </a:lnSpc>
              <a:buFont typeface="Arial" panose="020B0604020202020204" pitchFamily="34" charset="0"/>
              <a:buChar char="•"/>
            </a:pPr>
            <a:r>
              <a:rPr lang="en-US" sz="2000" dirty="0"/>
              <a:t>Study tools</a:t>
            </a:r>
          </a:p>
          <a:p>
            <a:pPr marL="285750" indent="-285750">
              <a:lnSpc>
                <a:spcPct val="200000"/>
              </a:lnSpc>
              <a:buFont typeface="Arial" panose="020B0604020202020204" pitchFamily="34" charset="0"/>
              <a:buChar char="•"/>
            </a:pPr>
            <a:r>
              <a:rPr lang="en-US" sz="2000" dirty="0"/>
              <a:t>Profile management</a:t>
            </a:r>
          </a:p>
          <a:p>
            <a:pPr marL="285750" indent="-285750">
              <a:lnSpc>
                <a:spcPct val="200000"/>
              </a:lnSpc>
              <a:buFont typeface="Arial" panose="020B0604020202020204" pitchFamily="34" charset="0"/>
              <a:buChar char="•"/>
            </a:pPr>
            <a:r>
              <a:rPr lang="en-US" sz="2000" dirty="0"/>
              <a:t>Social networking</a:t>
            </a:r>
          </a:p>
          <a:p>
            <a:pPr marL="285750" indent="-285750">
              <a:lnSpc>
                <a:spcPct val="200000"/>
              </a:lnSpc>
              <a:buFont typeface="Arial" panose="020B0604020202020204" pitchFamily="34" charset="0"/>
              <a:buChar char="•"/>
            </a:pPr>
            <a:r>
              <a:rPr lang="en-US" sz="2000" dirty="0"/>
              <a:t>Search</a:t>
            </a:r>
          </a:p>
        </p:txBody>
      </p:sp>
      <p:pic>
        <p:nvPicPr>
          <p:cNvPr id="16" name="Picture 15">
            <a:extLst>
              <a:ext uri="{FF2B5EF4-FFF2-40B4-BE49-F238E27FC236}">
                <a16:creationId xmlns:a16="http://schemas.microsoft.com/office/drawing/2014/main" id="{AEF6BD4E-23CB-FEC0-E6C5-3B140AA74098}"/>
              </a:ext>
            </a:extLst>
          </p:cNvPr>
          <p:cNvPicPr>
            <a:picLocks noChangeAspect="1"/>
          </p:cNvPicPr>
          <p:nvPr/>
        </p:nvPicPr>
        <p:blipFill>
          <a:blip r:embed="rId3"/>
          <a:stretch>
            <a:fillRect/>
          </a:stretch>
        </p:blipFill>
        <p:spPr>
          <a:xfrm>
            <a:off x="4318000" y="2552764"/>
            <a:ext cx="1752472" cy="1752472"/>
          </a:xfrm>
          <a:prstGeom prst="rect">
            <a:avLst/>
          </a:prstGeom>
        </p:spPr>
      </p:pic>
      <p:pic>
        <p:nvPicPr>
          <p:cNvPr id="14" name="Picture 13">
            <a:extLst>
              <a:ext uri="{FF2B5EF4-FFF2-40B4-BE49-F238E27FC236}">
                <a16:creationId xmlns:a16="http://schemas.microsoft.com/office/drawing/2014/main" id="{1C1DD95E-7571-A0E7-717C-A1F00635563B}"/>
              </a:ext>
            </a:extLst>
          </p:cNvPr>
          <p:cNvPicPr>
            <a:picLocks noChangeAspect="1"/>
          </p:cNvPicPr>
          <p:nvPr/>
        </p:nvPicPr>
        <p:blipFill>
          <a:blip r:embed="rId4"/>
          <a:stretch>
            <a:fillRect/>
          </a:stretch>
        </p:blipFill>
        <p:spPr>
          <a:xfrm>
            <a:off x="8815804" y="2552764"/>
            <a:ext cx="1752472" cy="1752472"/>
          </a:xfrm>
          <a:prstGeom prst="rect">
            <a:avLst/>
          </a:prstGeom>
        </p:spPr>
      </p:pic>
      <p:pic>
        <p:nvPicPr>
          <p:cNvPr id="3" name="Picture 2" descr="A logo with a light bulb and text&#10;&#10;AI-generated content may be incorrect.">
            <a:extLst>
              <a:ext uri="{FF2B5EF4-FFF2-40B4-BE49-F238E27FC236}">
                <a16:creationId xmlns:a16="http://schemas.microsoft.com/office/drawing/2014/main" id="{56081F13-F316-7C6C-F476-CF44C7811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pic>
        <p:nvPicPr>
          <p:cNvPr id="8" name="Picture 7" descr="A blue magnifying glass&#10;&#10;AI-generated content may be incorrect.">
            <a:extLst>
              <a:ext uri="{FF2B5EF4-FFF2-40B4-BE49-F238E27FC236}">
                <a16:creationId xmlns:a16="http://schemas.microsoft.com/office/drawing/2014/main" id="{19B5C3A0-FC38-1EE1-50E7-A15BAAE73A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66902" y="2591318"/>
            <a:ext cx="1752472" cy="1752472"/>
          </a:xfrm>
          <a:prstGeom prst="rect">
            <a:avLst/>
          </a:prstGeom>
        </p:spPr>
      </p:pic>
    </p:spTree>
    <p:extLst>
      <p:ext uri="{BB962C8B-B14F-4D97-AF65-F5344CB8AC3E}">
        <p14:creationId xmlns:p14="http://schemas.microsoft.com/office/powerpoint/2010/main" val="4161723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AB332-2400-FA8E-BE32-C1400637A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462F8-8465-9133-CCE5-11738113DA73}"/>
              </a:ext>
            </a:extLst>
          </p:cNvPr>
          <p:cNvSpPr>
            <a:spLocks noGrp="1"/>
          </p:cNvSpPr>
          <p:nvPr>
            <p:ph type="title"/>
          </p:nvPr>
        </p:nvSpPr>
        <p:spPr/>
        <p:txBody>
          <a:bodyPr/>
          <a:lstStyle/>
          <a:p>
            <a:r>
              <a:rPr lang="en-US" dirty="0"/>
              <a:t>Functional Requirements cont.</a:t>
            </a:r>
          </a:p>
        </p:txBody>
      </p:sp>
      <p:sp>
        <p:nvSpPr>
          <p:cNvPr id="9" name="TextBox 8">
            <a:extLst>
              <a:ext uri="{FF2B5EF4-FFF2-40B4-BE49-F238E27FC236}">
                <a16:creationId xmlns:a16="http://schemas.microsoft.com/office/drawing/2014/main" id="{D1E80910-C870-7160-FBBF-A85E6A668CA7}"/>
              </a:ext>
            </a:extLst>
          </p:cNvPr>
          <p:cNvSpPr txBox="1"/>
          <p:nvPr/>
        </p:nvSpPr>
        <p:spPr>
          <a:xfrm>
            <a:off x="1097280" y="1737360"/>
            <a:ext cx="6267450" cy="246836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Administrative tools</a:t>
            </a:r>
          </a:p>
          <a:p>
            <a:pPr marL="285750" indent="-285750">
              <a:lnSpc>
                <a:spcPct val="200000"/>
              </a:lnSpc>
              <a:buFont typeface="Arial" panose="020B0604020202020204" pitchFamily="34" charset="0"/>
              <a:buChar char="•"/>
            </a:pPr>
            <a:r>
              <a:rPr lang="en-US" sz="2000" dirty="0"/>
              <a:t>System requirements</a:t>
            </a:r>
          </a:p>
          <a:p>
            <a:pPr marL="285750" indent="-285750">
              <a:lnSpc>
                <a:spcPct val="200000"/>
              </a:lnSpc>
              <a:buFont typeface="Arial" panose="020B0604020202020204" pitchFamily="34" charset="0"/>
              <a:buChar char="•"/>
            </a:pPr>
            <a:r>
              <a:rPr lang="en-US" sz="2000" dirty="0"/>
              <a:t>Data storage</a:t>
            </a:r>
          </a:p>
          <a:p>
            <a:pPr marL="285750" indent="-285750">
              <a:lnSpc>
                <a:spcPct val="200000"/>
              </a:lnSpc>
              <a:buFont typeface="Arial" panose="020B0604020202020204" pitchFamily="34" charset="0"/>
              <a:buChar char="•"/>
            </a:pPr>
            <a:r>
              <a:rPr lang="en-US" sz="2000" dirty="0"/>
              <a:t>Security</a:t>
            </a:r>
          </a:p>
        </p:txBody>
      </p:sp>
      <p:pic>
        <p:nvPicPr>
          <p:cNvPr id="12" name="Picture 11" descr="A blue lock and shield with check mark&#10;&#10;AI-generated content may be incorrect.">
            <a:extLst>
              <a:ext uri="{FF2B5EF4-FFF2-40B4-BE49-F238E27FC236}">
                <a16:creationId xmlns:a16="http://schemas.microsoft.com/office/drawing/2014/main" id="{ECE98841-D245-BA0C-FBCE-5C6E05758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6169" y="2552764"/>
            <a:ext cx="1752472" cy="1752472"/>
          </a:xfrm>
          <a:prstGeom prst="rect">
            <a:avLst/>
          </a:prstGeom>
        </p:spPr>
      </p:pic>
      <p:pic>
        <p:nvPicPr>
          <p:cNvPr id="14" name="Picture 13">
            <a:extLst>
              <a:ext uri="{FF2B5EF4-FFF2-40B4-BE49-F238E27FC236}">
                <a16:creationId xmlns:a16="http://schemas.microsoft.com/office/drawing/2014/main" id="{92E8A1F5-B754-2AB1-2734-9C5FC5BAF2EB}"/>
              </a:ext>
            </a:extLst>
          </p:cNvPr>
          <p:cNvPicPr>
            <a:picLocks noChangeAspect="1"/>
          </p:cNvPicPr>
          <p:nvPr/>
        </p:nvPicPr>
        <p:blipFill>
          <a:blip r:embed="rId4"/>
          <a:stretch>
            <a:fillRect/>
          </a:stretch>
        </p:blipFill>
        <p:spPr>
          <a:xfrm>
            <a:off x="7619621" y="2552764"/>
            <a:ext cx="1752472" cy="1752472"/>
          </a:xfrm>
          <a:prstGeom prst="rect">
            <a:avLst/>
          </a:prstGeom>
        </p:spPr>
      </p:pic>
      <p:pic>
        <p:nvPicPr>
          <p:cNvPr id="3" name="Picture 2" descr="A logo with a light bulb and text&#10;&#10;AI-generated content may be incorrect.">
            <a:extLst>
              <a:ext uri="{FF2B5EF4-FFF2-40B4-BE49-F238E27FC236}">
                <a16:creationId xmlns:a16="http://schemas.microsoft.com/office/drawing/2014/main" id="{4071D38F-4514-2501-A71E-4063E8D25C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435960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0B569-EFAB-5D0B-5805-779BF4F60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3CBA4-4646-FBD2-58BA-9CAEB90DA639}"/>
              </a:ext>
            </a:extLst>
          </p:cNvPr>
          <p:cNvSpPr>
            <a:spLocks noGrp="1"/>
          </p:cNvSpPr>
          <p:nvPr>
            <p:ph type="title"/>
          </p:nvPr>
        </p:nvSpPr>
        <p:spPr/>
        <p:txBody>
          <a:bodyPr/>
          <a:lstStyle/>
          <a:p>
            <a:r>
              <a:rPr lang="en-US" dirty="0"/>
              <a:t>Nonfunctional Requirements</a:t>
            </a:r>
          </a:p>
        </p:txBody>
      </p:sp>
      <p:pic>
        <p:nvPicPr>
          <p:cNvPr id="3" name="Picture 2" descr="A logo with a light bulb and text&#10;&#10;AI-generated content may be incorrect.">
            <a:extLst>
              <a:ext uri="{FF2B5EF4-FFF2-40B4-BE49-F238E27FC236}">
                <a16:creationId xmlns:a16="http://schemas.microsoft.com/office/drawing/2014/main" id="{B0EF75C4-38CF-B684-CD2E-9E607FDF8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
        <p:nvSpPr>
          <p:cNvPr id="4" name="TextBox 3">
            <a:extLst>
              <a:ext uri="{FF2B5EF4-FFF2-40B4-BE49-F238E27FC236}">
                <a16:creationId xmlns:a16="http://schemas.microsoft.com/office/drawing/2014/main" id="{26533C51-4C05-291F-EC90-687738912887}"/>
              </a:ext>
            </a:extLst>
          </p:cNvPr>
          <p:cNvSpPr txBox="1"/>
          <p:nvPr/>
        </p:nvSpPr>
        <p:spPr>
          <a:xfrm>
            <a:off x="1230923" y="2074985"/>
            <a:ext cx="10058400" cy="590931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Performance</a:t>
            </a:r>
          </a:p>
          <a:p>
            <a:pPr marL="285750" indent="-285750">
              <a:lnSpc>
                <a:spcPct val="200000"/>
              </a:lnSpc>
              <a:buFont typeface="Arial" panose="020B0604020202020204" pitchFamily="34" charset="0"/>
              <a:buChar char="•"/>
            </a:pPr>
            <a:r>
              <a:rPr lang="en-US" sz="2000" dirty="0"/>
              <a:t>Security</a:t>
            </a:r>
          </a:p>
          <a:p>
            <a:pPr marL="285750" indent="-285750">
              <a:lnSpc>
                <a:spcPct val="200000"/>
              </a:lnSpc>
              <a:buFont typeface="Arial" panose="020B0604020202020204" pitchFamily="34" charset="0"/>
              <a:buChar char="•"/>
            </a:pPr>
            <a:r>
              <a:rPr lang="en-US" sz="2000" dirty="0"/>
              <a:t>Usability</a:t>
            </a:r>
          </a:p>
          <a:p>
            <a:pPr marL="285750" indent="-285750">
              <a:lnSpc>
                <a:spcPct val="200000"/>
              </a:lnSpc>
              <a:buFont typeface="Arial" panose="020B0604020202020204" pitchFamily="34" charset="0"/>
              <a:buChar char="•"/>
            </a:pPr>
            <a:r>
              <a:rPr lang="en-US" sz="2000" dirty="0"/>
              <a:t>Compatibility</a:t>
            </a:r>
          </a:p>
          <a:p>
            <a:pPr marL="285750" indent="-285750">
              <a:lnSpc>
                <a:spcPct val="200000"/>
              </a:lnSpc>
              <a:buFont typeface="Arial" panose="020B0604020202020204" pitchFamily="34" charset="0"/>
              <a:buChar char="•"/>
            </a:pPr>
            <a:r>
              <a:rPr lang="en-US" sz="2000" dirty="0"/>
              <a:t>Privacy</a:t>
            </a:r>
          </a:p>
          <a:p>
            <a:pPr marL="285750" indent="-285750">
              <a:lnSpc>
                <a:spcPct val="200000"/>
              </a:lnSpc>
              <a:buFont typeface="Arial" panose="020B0604020202020204" pitchFamily="34" charset="0"/>
              <a:buChar char="•"/>
            </a:pPr>
            <a:r>
              <a:rPr lang="en-US" sz="2000" dirty="0"/>
              <a:t>Scalability</a:t>
            </a:r>
          </a:p>
          <a:p>
            <a:pPr marL="285750" indent="-285750">
              <a:lnSpc>
                <a:spcPct val="200000"/>
              </a:lnSpc>
              <a:buFont typeface="Arial" panose="020B0604020202020204" pitchFamily="34" charset="0"/>
              <a:buChar char="•"/>
            </a:pPr>
            <a:endParaRPr lang="en-US" sz="2000" dirty="0"/>
          </a:p>
          <a:p>
            <a:pPr marL="285750" indent="-285750">
              <a:lnSpc>
                <a:spcPct val="200000"/>
              </a:lnSpc>
              <a:buFont typeface="Arial" panose="020B0604020202020204" pitchFamily="34" charset="0"/>
              <a:buChar char="•"/>
            </a:pPr>
            <a:endParaRPr lang="en-US" sz="2000" dirty="0"/>
          </a:p>
          <a:p>
            <a:pPr marL="285750" indent="-285750">
              <a:lnSpc>
                <a:spcPct val="200000"/>
              </a:lnSpc>
              <a:buFont typeface="Arial" panose="020B0604020202020204" pitchFamily="34" charset="0"/>
              <a:buChar char="•"/>
            </a:pPr>
            <a:endParaRPr lang="en-US" sz="20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02189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8F31-40D5-F7C1-EFDB-C579570D6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3A5E3-728B-5C50-D629-CBA2EBAB681A}"/>
              </a:ext>
            </a:extLst>
          </p:cNvPr>
          <p:cNvSpPr>
            <a:spLocks noGrp="1"/>
          </p:cNvSpPr>
          <p:nvPr>
            <p:ph type="title"/>
          </p:nvPr>
        </p:nvSpPr>
        <p:spPr/>
        <p:txBody>
          <a:bodyPr/>
          <a:lstStyle/>
          <a:p>
            <a:r>
              <a:rPr lang="en-US" dirty="0"/>
              <a:t>External Interface Requirements</a:t>
            </a:r>
          </a:p>
        </p:txBody>
      </p:sp>
      <p:graphicFrame>
        <p:nvGraphicFramePr>
          <p:cNvPr id="3" name="Table 2">
            <a:extLst>
              <a:ext uri="{FF2B5EF4-FFF2-40B4-BE49-F238E27FC236}">
                <a16:creationId xmlns:a16="http://schemas.microsoft.com/office/drawing/2014/main" id="{9CA18B5D-6BD9-CA18-F968-1C0D4F0BE7F8}"/>
              </a:ext>
            </a:extLst>
          </p:cNvPr>
          <p:cNvGraphicFramePr>
            <a:graphicFrameLocks noGrp="1"/>
          </p:cNvGraphicFramePr>
          <p:nvPr>
            <p:extLst>
              <p:ext uri="{D42A27DB-BD31-4B8C-83A1-F6EECF244321}">
                <p14:modId xmlns:p14="http://schemas.microsoft.com/office/powerpoint/2010/main" val="375405613"/>
              </p:ext>
            </p:extLst>
          </p:nvPr>
        </p:nvGraphicFramePr>
        <p:xfrm>
          <a:off x="868680" y="2030199"/>
          <a:ext cx="10515600" cy="3571240"/>
        </p:xfrm>
        <a:graphic>
          <a:graphicData uri="http://schemas.openxmlformats.org/drawingml/2006/table">
            <a:tbl>
              <a:tblPr firstRow="1" bandRow="1">
                <a:tableStyleId>{5C22544A-7EE6-4342-B048-85BDC9FD1C3A}</a:tableStyleId>
              </a:tblPr>
              <a:tblGrid>
                <a:gridCol w="1719944">
                  <a:extLst>
                    <a:ext uri="{9D8B030D-6E8A-4147-A177-3AD203B41FA5}">
                      <a16:colId xmlns:a16="http://schemas.microsoft.com/office/drawing/2014/main" val="4174102130"/>
                    </a:ext>
                  </a:extLst>
                </a:gridCol>
                <a:gridCol w="1948543">
                  <a:extLst>
                    <a:ext uri="{9D8B030D-6E8A-4147-A177-3AD203B41FA5}">
                      <a16:colId xmlns:a16="http://schemas.microsoft.com/office/drawing/2014/main" val="1712366548"/>
                    </a:ext>
                  </a:extLst>
                </a:gridCol>
                <a:gridCol w="5072743">
                  <a:extLst>
                    <a:ext uri="{9D8B030D-6E8A-4147-A177-3AD203B41FA5}">
                      <a16:colId xmlns:a16="http://schemas.microsoft.com/office/drawing/2014/main" val="911734909"/>
                    </a:ext>
                  </a:extLst>
                </a:gridCol>
                <a:gridCol w="1774370">
                  <a:extLst>
                    <a:ext uri="{9D8B030D-6E8A-4147-A177-3AD203B41FA5}">
                      <a16:colId xmlns:a16="http://schemas.microsoft.com/office/drawing/2014/main" val="3654786738"/>
                    </a:ext>
                  </a:extLst>
                </a:gridCol>
              </a:tblGrid>
              <a:tr h="370840">
                <a:tc>
                  <a:txBody>
                    <a:bodyPr/>
                    <a:lstStyle/>
                    <a:p>
                      <a:pPr algn="ctr"/>
                      <a:r>
                        <a:rPr lang="en-US" dirty="0"/>
                        <a:t>Request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External Interface Sentence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Priority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072847"/>
                  </a:ext>
                </a:extLst>
              </a:tr>
              <a:tr h="370840">
                <a:tc>
                  <a:txBody>
                    <a:bodyPr/>
                    <a:lstStyle/>
                    <a:p>
                      <a:pPr algn="ctr"/>
                      <a:r>
                        <a:rPr lang="en-US" dirty="0"/>
                        <a:t>EIR#1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User Interface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kern="1200" dirty="0">
                          <a:solidFill>
                            <a:schemeClr val="dk1"/>
                          </a:solidFill>
                          <a:effectLst/>
                          <a:latin typeface="+mn-lt"/>
                          <a:ea typeface="+mn-ea"/>
                          <a:cs typeface="+mn-cs"/>
                        </a:rPr>
                        <a:t>The system must run on a web browser via desktop and tablet interfaces.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High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050612"/>
                  </a:ext>
                </a:extLst>
              </a:tr>
              <a:tr h="370840">
                <a:tc>
                  <a:txBody>
                    <a:bodyPr/>
                    <a:lstStyle/>
                    <a:p>
                      <a:pPr algn="ctr"/>
                      <a:r>
                        <a:rPr lang="en-US" dirty="0"/>
                        <a:t>EIR#2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operate without the use of specialized 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847630"/>
                  </a:ext>
                </a:extLst>
              </a:tr>
              <a:tr h="370840">
                <a:tc>
                  <a:txBody>
                    <a:bodyPr/>
                    <a:lstStyle/>
                    <a:p>
                      <a:pPr algn="ctr"/>
                      <a:r>
                        <a:rPr lang="en-US" dirty="0"/>
                        <a:t>EIR#3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Software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utilize a React based frontend hosted on </a:t>
                      </a:r>
                      <a:r>
                        <a:rPr lang="en-US" sz="1800" dirty="0" err="1"/>
                        <a:t>Vercel</a:t>
                      </a:r>
                      <a:r>
                        <a:rPr lang="en-US" sz="18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730018"/>
                  </a:ext>
                </a:extLst>
              </a:tr>
              <a:tr h="370840">
                <a:tc>
                  <a:txBody>
                    <a:bodyPr/>
                    <a:lstStyle/>
                    <a:p>
                      <a:pPr algn="ctr"/>
                      <a:r>
                        <a:rPr lang="en-US" dirty="0"/>
                        <a:t>EIR#4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utilize JSON Web Tokens to support secure authentication and session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2857240"/>
                  </a:ext>
                </a:extLst>
              </a:tr>
              <a:tr h="370840">
                <a:tc>
                  <a:txBody>
                    <a:bodyPr/>
                    <a:lstStyle/>
                    <a:p>
                      <a:pPr algn="ctr"/>
                      <a:r>
                        <a:rPr lang="en-US" dirty="0"/>
                        <a:t>EIR#5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Communication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allow real-time communication using Socket.io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484715"/>
                  </a:ext>
                </a:extLst>
              </a:tr>
            </a:tbl>
          </a:graphicData>
        </a:graphic>
      </p:graphicFrame>
      <p:pic>
        <p:nvPicPr>
          <p:cNvPr id="4" name="Picture 3" descr="A logo with a light bulb and text&#10;&#10;AI-generated content may be incorrect.">
            <a:extLst>
              <a:ext uri="{FF2B5EF4-FFF2-40B4-BE49-F238E27FC236}">
                <a16:creationId xmlns:a16="http://schemas.microsoft.com/office/drawing/2014/main" id="{1F15CE3F-E8DF-6032-BBCF-19926C2BF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881191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53646-F365-0FA2-E400-70D722ACC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E4F68-6963-9DBE-46A6-19710EBE33E2}"/>
              </a:ext>
            </a:extLst>
          </p:cNvPr>
          <p:cNvSpPr>
            <a:spLocks noGrp="1"/>
          </p:cNvSpPr>
          <p:nvPr>
            <p:ph type="title"/>
          </p:nvPr>
        </p:nvSpPr>
        <p:spPr/>
        <p:txBody>
          <a:bodyPr/>
          <a:lstStyle/>
          <a:p>
            <a:r>
              <a:rPr lang="en-US" dirty="0"/>
              <a:t>External Interface Requirements cont.</a:t>
            </a:r>
          </a:p>
        </p:txBody>
      </p:sp>
      <p:pic>
        <p:nvPicPr>
          <p:cNvPr id="4" name="Picture 3" descr="A screenshot of a computer&#10;&#10;AI-generated content may be incorrect.">
            <a:extLst>
              <a:ext uri="{FF2B5EF4-FFF2-40B4-BE49-F238E27FC236}">
                <a16:creationId xmlns:a16="http://schemas.microsoft.com/office/drawing/2014/main" id="{8DC46D8D-83D9-A1E0-65D4-15DDF9B79D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2090239"/>
            <a:ext cx="5551715" cy="3704445"/>
          </a:xfrm>
          <a:prstGeom prst="rect">
            <a:avLst/>
          </a:prstGeom>
        </p:spPr>
      </p:pic>
      <p:sp>
        <p:nvSpPr>
          <p:cNvPr id="5" name="TextBox 4">
            <a:extLst>
              <a:ext uri="{FF2B5EF4-FFF2-40B4-BE49-F238E27FC236}">
                <a16:creationId xmlns:a16="http://schemas.microsoft.com/office/drawing/2014/main" id="{F93FD042-7B7A-1AE5-57C8-ACF8C04FC254}"/>
              </a:ext>
            </a:extLst>
          </p:cNvPr>
          <p:cNvSpPr txBox="1"/>
          <p:nvPr/>
        </p:nvSpPr>
        <p:spPr>
          <a:xfrm>
            <a:off x="7609731" y="2274838"/>
            <a:ext cx="3744686" cy="2308324"/>
          </a:xfrm>
          <a:prstGeom prst="rect">
            <a:avLst/>
          </a:prstGeom>
          <a:noFill/>
        </p:spPr>
        <p:txBody>
          <a:bodyPr wrap="square" rtlCol="0">
            <a:spAutoFit/>
          </a:bodyPr>
          <a:lstStyle/>
          <a:p>
            <a:r>
              <a:rPr lang="en-US" dirty="0"/>
              <a:t>To the left is an example of the interface we plan to implement. Here is the messaging page, where users can message other individual users or complete groups. You can view your message history, create quizzes, flashcards and polls with each messaging subpage, as well.</a:t>
            </a:r>
          </a:p>
        </p:txBody>
      </p:sp>
      <p:pic>
        <p:nvPicPr>
          <p:cNvPr id="3" name="Picture 2" descr="A logo with a light bulb and text&#10;&#10;AI-generated content may be incorrect.">
            <a:extLst>
              <a:ext uri="{FF2B5EF4-FFF2-40B4-BE49-F238E27FC236}">
                <a16:creationId xmlns:a16="http://schemas.microsoft.com/office/drawing/2014/main" id="{AD4499B7-0923-C343-A39C-E60EFB1935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620250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0BD7D-01AD-33A5-FBAF-ACD5F6E2D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F1E02-AEEE-89DB-41A3-FE4A84D3738B}"/>
              </a:ext>
            </a:extLst>
          </p:cNvPr>
          <p:cNvSpPr>
            <a:spLocks noGrp="1"/>
          </p:cNvSpPr>
          <p:nvPr>
            <p:ph type="title"/>
          </p:nvPr>
        </p:nvSpPr>
        <p:spPr/>
        <p:txBody>
          <a:bodyPr/>
          <a:lstStyle/>
          <a:p>
            <a:r>
              <a:rPr lang="en-US" dirty="0"/>
              <a:t>Other Requirements</a:t>
            </a:r>
          </a:p>
        </p:txBody>
      </p:sp>
      <p:pic>
        <p:nvPicPr>
          <p:cNvPr id="4" name="Picture 3" descr="A logo with a light bulb and text&#10;&#10;AI-generated content may be incorrect.">
            <a:extLst>
              <a:ext uri="{FF2B5EF4-FFF2-40B4-BE49-F238E27FC236}">
                <a16:creationId xmlns:a16="http://schemas.microsoft.com/office/drawing/2014/main" id="{75B40E01-B1C8-D54B-8A30-03729A099F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graphicFrame>
        <p:nvGraphicFramePr>
          <p:cNvPr id="12" name="Table 11">
            <a:extLst>
              <a:ext uri="{FF2B5EF4-FFF2-40B4-BE49-F238E27FC236}">
                <a16:creationId xmlns:a16="http://schemas.microsoft.com/office/drawing/2014/main" id="{D2459479-69AC-1737-FE96-2CB2224B8C67}"/>
              </a:ext>
            </a:extLst>
          </p:cNvPr>
          <p:cNvGraphicFramePr>
            <a:graphicFrameLocks noGrp="1"/>
          </p:cNvGraphicFramePr>
          <p:nvPr>
            <p:extLst>
              <p:ext uri="{D42A27DB-BD31-4B8C-83A1-F6EECF244321}">
                <p14:modId xmlns:p14="http://schemas.microsoft.com/office/powerpoint/2010/main" val="3801609362"/>
              </p:ext>
            </p:extLst>
          </p:nvPr>
        </p:nvGraphicFramePr>
        <p:xfrm>
          <a:off x="838200" y="2026248"/>
          <a:ext cx="10515600" cy="3845560"/>
        </p:xfrm>
        <a:graphic>
          <a:graphicData uri="http://schemas.openxmlformats.org/drawingml/2006/table">
            <a:tbl>
              <a:tblPr firstRow="1" bandRow="1">
                <a:tableStyleId>{5C22544A-7EE6-4342-B048-85BDC9FD1C3A}</a:tableStyleId>
              </a:tblPr>
              <a:tblGrid>
                <a:gridCol w="1553967">
                  <a:extLst>
                    <a:ext uri="{9D8B030D-6E8A-4147-A177-3AD203B41FA5}">
                      <a16:colId xmlns:a16="http://schemas.microsoft.com/office/drawing/2014/main" val="296755341"/>
                    </a:ext>
                  </a:extLst>
                </a:gridCol>
                <a:gridCol w="1768743">
                  <a:extLst>
                    <a:ext uri="{9D8B030D-6E8A-4147-A177-3AD203B41FA5}">
                      <a16:colId xmlns:a16="http://schemas.microsoft.com/office/drawing/2014/main" val="752012600"/>
                    </a:ext>
                  </a:extLst>
                </a:gridCol>
                <a:gridCol w="5521005">
                  <a:extLst>
                    <a:ext uri="{9D8B030D-6E8A-4147-A177-3AD203B41FA5}">
                      <a16:colId xmlns:a16="http://schemas.microsoft.com/office/drawing/2014/main" val="1806458636"/>
                    </a:ext>
                  </a:extLst>
                </a:gridCol>
                <a:gridCol w="1671885">
                  <a:extLst>
                    <a:ext uri="{9D8B030D-6E8A-4147-A177-3AD203B41FA5}">
                      <a16:colId xmlns:a16="http://schemas.microsoft.com/office/drawing/2014/main" val="3708226101"/>
                    </a:ext>
                  </a:extLst>
                </a:gridCol>
              </a:tblGrid>
              <a:tr h="370840">
                <a:tc>
                  <a:txBody>
                    <a:bodyPr/>
                    <a:lstStyle/>
                    <a:p>
                      <a:pPr algn="ctr"/>
                      <a:r>
                        <a:rPr lang="en-US" dirty="0"/>
                        <a:t>Request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Other Requirement Sentence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Priority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6703589"/>
                  </a:ext>
                </a:extLst>
              </a:tr>
              <a:tr h="370840">
                <a:tc>
                  <a:txBody>
                    <a:bodyPr/>
                    <a:lstStyle/>
                    <a:p>
                      <a:pPr algn="ctr"/>
                      <a:r>
                        <a:rPr lang="en-US" dirty="0"/>
                        <a:t>OR#1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Documentation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maintain up-to-date project documentation throughout the semester.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4175637"/>
                  </a:ext>
                </a:extLst>
              </a:tr>
              <a:tr h="370840">
                <a:tc>
                  <a:txBody>
                    <a:bodyPr/>
                    <a:lstStyle/>
                    <a:p>
                      <a:pPr algn="ctr"/>
                      <a:r>
                        <a:rPr lang="en-US" dirty="0"/>
                        <a:t>OR#2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COSC412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have all source code version-controlled using GitHub with weekly commits.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2845144"/>
                  </a:ext>
                </a:extLst>
              </a:tr>
              <a:tr h="370840">
                <a:tc>
                  <a:txBody>
                    <a:bodyPr/>
                    <a:lstStyle/>
                    <a:p>
                      <a:pPr algn="ctr"/>
                      <a:r>
                        <a:rPr lang="en-US" dirty="0"/>
                        <a:t>OR#3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Scalability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must be designed to handle multiple concurrent users without performance degradation.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4131713"/>
                  </a:ext>
                </a:extLst>
              </a:tr>
              <a:tr h="370840">
                <a:tc>
                  <a:txBody>
                    <a:bodyPr/>
                    <a:lstStyle/>
                    <a:p>
                      <a:pPr algn="ctr"/>
                      <a:r>
                        <a:rPr lang="en-US" dirty="0"/>
                        <a:t>OR#4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Open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use only open-source or educational licenses for all libraries and frameworks.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6630327"/>
                  </a:ext>
                </a:extLst>
              </a:tr>
              <a:tr h="370840">
                <a:tc>
                  <a:txBody>
                    <a:bodyPr/>
                    <a:lstStyle/>
                    <a:p>
                      <a:pPr algn="ctr"/>
                      <a:r>
                        <a:rPr lang="en-US" dirty="0"/>
                        <a:t>OR#5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Post-Implementation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include a post-release maintenance plan following MVP 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398490"/>
                  </a:ext>
                </a:extLst>
              </a:tr>
            </a:tbl>
          </a:graphicData>
        </a:graphic>
      </p:graphicFrame>
    </p:spTree>
    <p:extLst>
      <p:ext uri="{BB962C8B-B14F-4D97-AF65-F5344CB8AC3E}">
        <p14:creationId xmlns:p14="http://schemas.microsoft.com/office/powerpoint/2010/main" val="2177611131"/>
      </p:ext>
    </p:extLst>
  </p:cSld>
  <p:clrMapOvr>
    <a:masterClrMapping/>
  </p:clrMapOvr>
</p:sld>
</file>

<file path=ppt/theme/theme1.xml><?xml version="1.0" encoding="utf-8"?>
<a:theme xmlns:a="http://schemas.openxmlformats.org/drawingml/2006/main" name="Retrospect">
  <a:themeElements>
    <a:clrScheme name="Custom 11">
      <a:dk1>
        <a:sysClr val="windowText" lastClr="000000"/>
      </a:dk1>
      <a:lt1>
        <a:sysClr val="window" lastClr="FFFFFF"/>
      </a:lt1>
      <a:dk2>
        <a:srgbClr val="2C3C43"/>
      </a:dk2>
      <a:lt2>
        <a:srgbClr val="EBEBEB"/>
      </a:lt2>
      <a:accent1>
        <a:srgbClr val="3E506A"/>
      </a:accent1>
      <a:accent2>
        <a:srgbClr val="0F3756"/>
      </a:accent2>
      <a:accent3>
        <a:srgbClr val="9EB5BF"/>
      </a:accent3>
      <a:accent4>
        <a:srgbClr val="9EB5BF"/>
      </a:accent4>
      <a:accent5>
        <a:srgbClr val="CEDADF"/>
      </a:accent5>
      <a:accent6>
        <a:srgbClr val="918655"/>
      </a:accent6>
      <a:hlink>
        <a:srgbClr val="99CA3C"/>
      </a:hlink>
      <a:folHlink>
        <a:srgbClr val="B9D18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744</TotalTime>
  <Words>1272</Words>
  <Application>Microsoft Office PowerPoint</Application>
  <PresentationFormat>Widescreen</PresentationFormat>
  <Paragraphs>199</Paragraphs>
  <Slides>13</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Times</vt:lpstr>
      <vt:lpstr>Times New Roman</vt:lpstr>
      <vt:lpstr>Retrospect</vt:lpstr>
      <vt:lpstr> Software Requirements Specifications</vt:lpstr>
      <vt:lpstr>Introduction</vt:lpstr>
      <vt:lpstr>Introduction</vt:lpstr>
      <vt:lpstr>Overview</vt:lpstr>
      <vt:lpstr>Overview</vt:lpstr>
      <vt:lpstr>Overview</vt:lpstr>
      <vt:lpstr>User stories</vt:lpstr>
      <vt:lpstr>Functional Requirements</vt:lpstr>
      <vt:lpstr>Functional Requirements cont.</vt:lpstr>
      <vt:lpstr>Nonfunctional Requirements</vt:lpstr>
      <vt:lpstr>External Interface Requirements</vt:lpstr>
      <vt:lpstr>External Interface Requirements cont.</vt:lpstr>
      <vt:lpstr>Other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 Hudson</dc:creator>
  <cp:lastModifiedBy>Cho, Hudson</cp:lastModifiedBy>
  <cp:revision>10</cp:revision>
  <dcterms:created xsi:type="dcterms:W3CDTF">2025-10-20T12:25:22Z</dcterms:created>
  <dcterms:modified xsi:type="dcterms:W3CDTF">2025-10-21T22:45:19Z</dcterms:modified>
</cp:coreProperties>
</file>